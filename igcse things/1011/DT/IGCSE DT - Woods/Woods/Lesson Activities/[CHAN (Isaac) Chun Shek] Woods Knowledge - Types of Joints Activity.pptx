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0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5143500" cx="9144000"/>
  <p:notesSz cx="6858000" cy="9144000"/>
  <p:embeddedFontLst>
    <p:embeddedFont>
      <p:font typeface="Quicksand"/>
      <p:regular r:id="rId12"/>
      <p:bold r:id="rId1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93DB6417-9BA5-44C6-BA8C-199371E52FA4}">
  <a:tblStyle styleId="{93DB6417-9BA5-44C6-BA8C-199371E52FA4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font" Target="fonts/Quicksand-bold.fntdata"/><Relationship Id="rId12" Type="http://schemas.openxmlformats.org/officeDocument/2006/relationships/font" Target="fonts/Quicksan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2e7a3879d_1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2e7a3879d_1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a2e7a3879d_1_14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a2e7a3879d_1_14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haa53591891d0818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haa53591891d0818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haa53591891d0818_1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haa53591891d0818_1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haa53591891d0818_1_1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haa53591891d0818_1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2"/>
          <p:cNvSpPr txBox="1"/>
          <p:nvPr>
            <p:ph type="ctrTitle"/>
          </p:nvPr>
        </p:nvSpPr>
        <p:spPr>
          <a:xfrm>
            <a:off x="685800" y="1597819"/>
            <a:ext cx="7772400" cy="1102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14" name="Google Shape;14;p2"/>
          <p:cNvSpPr txBox="1"/>
          <p:nvPr>
            <p:ph idx="1" type="subTitle"/>
          </p:nvPr>
        </p:nvSpPr>
        <p:spPr>
          <a:xfrm>
            <a:off x="1371600" y="2914650"/>
            <a:ext cx="6400800" cy="131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Font typeface="Arial"/>
              <a:buNone/>
              <a:defRPr b="0" i="0" sz="3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Font typeface="Arial"/>
              <a:buNone/>
              <a:defRPr b="0" i="0" sz="2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Font typeface="Arial"/>
              <a:buNone/>
              <a:defRPr b="0" i="0" sz="2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5" name="Google Shape;15;p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7" name="Google Shape;17;p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3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0" name="Google Shape;20;p3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1" name="Google Shape;21;p3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2" name="Google Shape;22;p3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3" name="Google Shape;23;p3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title"/>
          </p:nvPr>
        </p:nvSpPr>
        <p:spPr>
          <a:xfrm>
            <a:off x="722313" y="3305175"/>
            <a:ext cx="7772400" cy="102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i="0" sz="4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26" name="Google Shape;26;p4"/>
          <p:cNvSpPr txBox="1"/>
          <p:nvPr>
            <p:ph idx="1" type="body"/>
          </p:nvPr>
        </p:nvSpPr>
        <p:spPr>
          <a:xfrm>
            <a:off x="722313" y="2180035"/>
            <a:ext cx="7772400" cy="11253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Font typeface="Arial"/>
              <a:buNone/>
              <a:defRPr b="0" i="0" sz="20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Font typeface="Arial"/>
              <a:buNone/>
              <a:defRPr b="0" i="0" sz="18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Font typeface="Arial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Font typeface="Arial"/>
              <a:buNone/>
              <a:defRPr b="0" i="0" sz="14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7" name="Google Shape;27;p4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8" name="Google Shape;28;p4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457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648200" y="1200150"/>
            <a:ext cx="4038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06400" lvl="0" marL="4572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–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»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4" name="Google Shape;34;p5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5" name="Google Shape;35;p5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36" name="Google Shape;36;p5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39" name="Google Shape;39;p6"/>
          <p:cNvSpPr txBox="1"/>
          <p:nvPr>
            <p:ph idx="1" type="body"/>
          </p:nvPr>
        </p:nvSpPr>
        <p:spPr>
          <a:xfrm>
            <a:off x="457200" y="1151335"/>
            <a:ext cx="40401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0" name="Google Shape;40;p6"/>
          <p:cNvSpPr txBox="1"/>
          <p:nvPr>
            <p:ph idx="2" type="body"/>
          </p:nvPr>
        </p:nvSpPr>
        <p:spPr>
          <a:xfrm>
            <a:off x="457200" y="1631156"/>
            <a:ext cx="40401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1" name="Google Shape;41;p6"/>
          <p:cNvSpPr txBox="1"/>
          <p:nvPr>
            <p:ph idx="3" type="body"/>
          </p:nvPr>
        </p:nvSpPr>
        <p:spPr>
          <a:xfrm>
            <a:off x="4645025" y="1151335"/>
            <a:ext cx="40419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1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b="1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1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2" name="Google Shape;42;p6"/>
          <p:cNvSpPr txBox="1"/>
          <p:nvPr>
            <p:ph idx="4" type="body"/>
          </p:nvPr>
        </p:nvSpPr>
        <p:spPr>
          <a:xfrm>
            <a:off x="4645025" y="1631156"/>
            <a:ext cx="4041900" cy="2963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381000" lvl="0" marL="4572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55600" lvl="1" marL="914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42900" lvl="2" marL="1371600" marR="0" rtl="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30200" lvl="3" marL="1828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–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30200" lvl="4" marL="22860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»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30200" lvl="5" marL="27432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30200" lvl="6" marL="32004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30200" lvl="7" marL="36576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30200" lvl="8" marL="4114800" marR="0" rtl="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3" name="Google Shape;43;p6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4" name="Google Shape;44;p6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5" name="Google Shape;45;p6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48" name="Google Shape;48;p7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49" name="Google Shape;49;p7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0" name="Google Shape;50;p7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3" name="Google Shape;53;p8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4" name="Google Shape;54;p8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9"/>
          <p:cNvSpPr txBox="1"/>
          <p:nvPr>
            <p:ph type="title"/>
          </p:nvPr>
        </p:nvSpPr>
        <p:spPr>
          <a:xfrm>
            <a:off x="457200" y="204788"/>
            <a:ext cx="3008400" cy="871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57" name="Google Shape;57;p9"/>
          <p:cNvSpPr txBox="1"/>
          <p:nvPr>
            <p:ph idx="1" type="body"/>
          </p:nvPr>
        </p:nvSpPr>
        <p:spPr>
          <a:xfrm>
            <a:off x="3575050" y="204788"/>
            <a:ext cx="5111700" cy="4389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8" name="Google Shape;58;p9"/>
          <p:cNvSpPr txBox="1"/>
          <p:nvPr>
            <p:ph idx="2" type="body"/>
          </p:nvPr>
        </p:nvSpPr>
        <p:spPr>
          <a:xfrm>
            <a:off x="457200" y="1076325"/>
            <a:ext cx="3008400" cy="3518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59" name="Google Shape;59;p9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0" name="Google Shape;60;p9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1" name="Google Shape;61;p9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0"/>
          <p:cNvSpPr txBox="1"/>
          <p:nvPr>
            <p:ph type="title"/>
          </p:nvPr>
        </p:nvSpPr>
        <p:spPr>
          <a:xfrm>
            <a:off x="1792288" y="3600450"/>
            <a:ext cx="5486400" cy="4251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64" name="Google Shape;64;p10"/>
          <p:cNvSpPr/>
          <p:nvPr>
            <p:ph idx="2" type="pic"/>
          </p:nvPr>
        </p:nvSpPr>
        <p:spPr>
          <a:xfrm>
            <a:off x="1792288" y="459581"/>
            <a:ext cx="5486400" cy="30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5" name="Google Shape;65;p10"/>
          <p:cNvSpPr txBox="1"/>
          <p:nvPr>
            <p:ph idx="1" type="body"/>
          </p:nvPr>
        </p:nvSpPr>
        <p:spPr>
          <a:xfrm>
            <a:off x="1792288" y="4025503"/>
            <a:ext cx="5486400" cy="603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Font typeface="Arial"/>
              <a:buNone/>
              <a:defRPr b="0" i="0" sz="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6" name="Google Shape;66;p10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7" name="Google Shape;67;p10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8" name="Google Shape;68;p10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1" name="Google Shape;71;p11"/>
          <p:cNvSpPr txBox="1"/>
          <p:nvPr>
            <p:ph idx="1" type="body"/>
          </p:nvPr>
        </p:nvSpPr>
        <p:spPr>
          <a:xfrm rot="5400000">
            <a:off x="2874750" y="-1217400"/>
            <a:ext cx="339450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2" name="Google Shape;72;p1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3" name="Google Shape;73;p1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4" name="Google Shape;74;p1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2"/>
          <p:cNvSpPr txBox="1"/>
          <p:nvPr>
            <p:ph type="title"/>
          </p:nvPr>
        </p:nvSpPr>
        <p:spPr>
          <a:xfrm rot="5400000">
            <a:off x="5463750" y="1371628"/>
            <a:ext cx="4388700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7" name="Google Shape;77;p12"/>
          <p:cNvSpPr txBox="1"/>
          <p:nvPr>
            <p:ph idx="1" type="body"/>
          </p:nvPr>
        </p:nvSpPr>
        <p:spPr>
          <a:xfrm rot="5400000">
            <a:off x="1272750" y="-609572"/>
            <a:ext cx="4388700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8" name="Google Shape;78;p12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9" name="Google Shape;79;p12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0" name="Google Shape;80;p12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sz="12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3" name="Google Shape;83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>
              <a:spcBef>
                <a:spcPts val="640"/>
              </a:spcBef>
              <a:spcAft>
                <a:spcPts val="0"/>
              </a:spcAft>
              <a:buSzPts val="3200"/>
              <a:buChar char="•"/>
              <a:defRPr/>
            </a:lvl1pPr>
            <a:lvl2pPr indent="-406400" lvl="1" marL="914400">
              <a:spcBef>
                <a:spcPts val="560"/>
              </a:spcBef>
              <a:spcAft>
                <a:spcPts val="0"/>
              </a:spcAft>
              <a:buSzPts val="2800"/>
              <a:buChar char="–"/>
              <a:defRPr/>
            </a:lvl2pPr>
            <a:lvl3pPr indent="-381000" lvl="2" marL="1371600"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55600" lvl="3" marL="1828800">
              <a:spcBef>
                <a:spcPts val="400"/>
              </a:spcBef>
              <a:spcAft>
                <a:spcPts val="0"/>
              </a:spcAft>
              <a:buSzPts val="2000"/>
              <a:buChar char="–"/>
              <a:defRPr/>
            </a:lvl4pPr>
            <a:lvl5pPr indent="-355600" lvl="4" marL="2286000">
              <a:spcBef>
                <a:spcPts val="400"/>
              </a:spcBef>
              <a:spcAft>
                <a:spcPts val="0"/>
              </a:spcAft>
              <a:buSzPts val="2000"/>
              <a:buChar char="»"/>
              <a:defRPr/>
            </a:lvl5pPr>
            <a:lvl6pPr indent="-355600" lvl="5" marL="27432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6pPr>
            <a:lvl7pPr indent="-355600" lvl="6" marL="32004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7pPr>
            <a:lvl8pPr indent="-355600" lvl="7" marL="36576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8pPr>
            <a:lvl9pPr indent="-355600" lvl="8" marL="4114800">
              <a:spcBef>
                <a:spcPts val="400"/>
              </a:spcBef>
              <a:spcAft>
                <a:spcPts val="0"/>
              </a:spcAft>
              <a:buSzPts val="2000"/>
              <a:buChar char="•"/>
              <a:defRPr/>
            </a:lvl9pPr>
          </a:lstStyle>
          <a:p/>
        </p:txBody>
      </p:sp>
      <p:sp>
        <p:nvSpPr>
          <p:cNvPr id="84" name="Google Shape;84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45700" lIns="91425" spcFirstLastPara="1" rIns="91425" wrap="square" tIns="4570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05978"/>
            <a:ext cx="8229600" cy="8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200150"/>
            <a:ext cx="8229600" cy="3394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4767263"/>
            <a:ext cx="2895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4767263"/>
            <a:ext cx="2133600" cy="273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11" name="Google Shape;11;p1"/>
          <p:cNvPicPr preferRelativeResize="0"/>
          <p:nvPr/>
        </p:nvPicPr>
        <p:blipFill rotWithShape="1">
          <a:blip r:embed="rId1">
            <a:alphaModFix amt="5000"/>
          </a:blip>
          <a:srcRect b="0" l="794" r="0" t="0"/>
          <a:stretch/>
        </p:blipFill>
        <p:spPr>
          <a:xfrm>
            <a:off x="0" y="0"/>
            <a:ext cx="9144000" cy="5143499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2"/>
    <p:sldLayoutId id="2147483649" r:id="rId3"/>
    <p:sldLayoutId id="2147483650" r:id="rId4"/>
    <p:sldLayoutId id="2147483651" r:id="rId5"/>
    <p:sldLayoutId id="2147483652" r:id="rId6"/>
    <p:sldLayoutId id="2147483653" r:id="rId7"/>
    <p:sldLayoutId id="2147483654" r:id="rId8"/>
    <p:sldLayoutId id="2147483655" r:id="rId9"/>
    <p:sldLayoutId id="2147483656" r:id="rId10"/>
    <p:sldLayoutId id="2147483657" r:id="rId11"/>
    <p:sldLayoutId id="2147483658" r:id="rId12"/>
    <p:sldLayoutId id="2147483659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png"/><Relationship Id="rId4" Type="http://schemas.openxmlformats.org/officeDocument/2006/relationships/image" Target="../media/image3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9" name="Google Shape;89;p14"/>
          <p:cNvPicPr preferRelativeResize="0"/>
          <p:nvPr/>
        </p:nvPicPr>
        <p:blipFill rotWithShape="1">
          <a:blip r:embed="rId3">
            <a:alphaModFix/>
          </a:blip>
          <a:srcRect b="0" l="0" r="63993" t="0"/>
          <a:stretch/>
        </p:blipFill>
        <p:spPr>
          <a:xfrm>
            <a:off x="1072200" y="1847300"/>
            <a:ext cx="2410649" cy="10873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4"/>
          <p:cNvSpPr txBox="1"/>
          <p:nvPr/>
        </p:nvSpPr>
        <p:spPr>
          <a:xfrm>
            <a:off x="1145657" y="2963791"/>
            <a:ext cx="14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Butt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1" name="Google Shape;91;p14"/>
          <p:cNvSpPr txBox="1"/>
          <p:nvPr/>
        </p:nvSpPr>
        <p:spPr>
          <a:xfrm>
            <a:off x="2235010" y="2952977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Cross halving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2" name="Google Shape;92;p14"/>
          <p:cNvSpPr txBox="1"/>
          <p:nvPr/>
        </p:nvSpPr>
        <p:spPr>
          <a:xfrm>
            <a:off x="3966111" y="2954123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Finger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3" name="Google Shape;93;p14"/>
          <p:cNvSpPr txBox="1"/>
          <p:nvPr/>
        </p:nvSpPr>
        <p:spPr>
          <a:xfrm>
            <a:off x="5118350" y="2963800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Mortise &amp; tenon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4" name="Google Shape;94;p14"/>
          <p:cNvSpPr txBox="1"/>
          <p:nvPr/>
        </p:nvSpPr>
        <p:spPr>
          <a:xfrm>
            <a:off x="7016414" y="2963791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Mitre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5" name="Google Shape;95;p14"/>
          <p:cNvSpPr txBox="1"/>
          <p:nvPr>
            <p:ph type="title"/>
          </p:nvPr>
        </p:nvSpPr>
        <p:spPr>
          <a:xfrm>
            <a:off x="152402" y="0"/>
            <a:ext cx="3829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</a:pP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b="1" i="0" lang="en-GB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ypes of </a:t>
            </a: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Joints</a:t>
            </a:r>
            <a:endParaRPr b="1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6" name="Google Shape;96;p14"/>
          <p:cNvSpPr txBox="1"/>
          <p:nvPr/>
        </p:nvSpPr>
        <p:spPr>
          <a:xfrm>
            <a:off x="963804" y="625788"/>
            <a:ext cx="259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Aesthetics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Surface Area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Mechanical strength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Difficulty to construct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97" name="Google Shape;97;p14"/>
          <p:cNvSpPr txBox="1"/>
          <p:nvPr/>
        </p:nvSpPr>
        <p:spPr>
          <a:xfrm>
            <a:off x="381000" y="382225"/>
            <a:ext cx="669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00000"/>
                </a:solidFill>
                <a:latin typeface="Quicksand"/>
                <a:ea typeface="Quicksand"/>
                <a:cs typeface="Quicksand"/>
                <a:sym typeface="Quicksand"/>
              </a:rPr>
              <a:t>Score each joint for the following - identify 3 favourites</a:t>
            </a:r>
            <a:endParaRPr sz="1600">
              <a:solidFill>
                <a:srgbClr val="C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98" name="Google Shape;98;p14"/>
          <p:cNvGraphicFramePr/>
          <p:nvPr/>
        </p:nvGraphicFramePr>
        <p:xfrm>
          <a:off x="152400" y="328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{93DB6417-9BA5-44C6-BA8C-199371E52FA4}</a:tableStyleId>
              </a:tblPr>
              <a:tblGrid>
                <a:gridCol w="895325"/>
                <a:gridCol w="1407675"/>
                <a:gridCol w="1407675"/>
                <a:gridCol w="1407675"/>
                <a:gridCol w="1407675"/>
                <a:gridCol w="1407675"/>
              </a:tblGrid>
              <a:tr h="27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5.25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7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8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6.75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4.75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27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Aesthetics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7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27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Surface Area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6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Mechanical strength 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4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Difficulty to construct 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300"/>
                        <a:t>2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99" name="Google Shape;99;p14"/>
          <p:cNvPicPr preferRelativeResize="0"/>
          <p:nvPr/>
        </p:nvPicPr>
        <p:blipFill rotWithShape="1">
          <a:blip r:embed="rId3">
            <a:alphaModFix/>
          </a:blip>
          <a:srcRect b="0" l="54747" r="0" t="0"/>
          <a:stretch/>
        </p:blipFill>
        <p:spPr>
          <a:xfrm>
            <a:off x="5194550" y="1847300"/>
            <a:ext cx="3029651" cy="1087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0" name="Google Shape;100;p14"/>
          <p:cNvPicPr preferRelativeResize="0"/>
          <p:nvPr/>
        </p:nvPicPr>
        <p:blipFill rotWithShape="1">
          <a:blip r:embed="rId3">
            <a:alphaModFix/>
          </a:blip>
          <a:srcRect b="0" l="37135" r="45078" t="0"/>
          <a:stretch/>
        </p:blipFill>
        <p:spPr>
          <a:xfrm>
            <a:off x="3824213" y="1847300"/>
            <a:ext cx="1190774" cy="108735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1" name="Google Shape;101;p14"/>
          <p:cNvGrpSpPr/>
          <p:nvPr/>
        </p:nvGrpSpPr>
        <p:grpSpPr>
          <a:xfrm>
            <a:off x="7816774" y="292472"/>
            <a:ext cx="1428600" cy="1401129"/>
            <a:chOff x="7943849" y="151647"/>
            <a:chExt cx="1428600" cy="1401129"/>
          </a:xfrm>
        </p:grpSpPr>
        <p:pic>
          <p:nvPicPr>
            <p:cNvPr descr="Island School - Wikipedia" id="102" name="Google Shape;102;p14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17858" y="151647"/>
              <a:ext cx="861267" cy="92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03" name="Google Shape;103;p14"/>
            <p:cNvSpPr txBox="1"/>
            <p:nvPr/>
          </p:nvSpPr>
          <p:spPr>
            <a:xfrm>
              <a:off x="7943849" y="928776"/>
              <a:ext cx="1428600" cy="6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4125" lIns="164125" spcFirstLastPara="1" rIns="164125" wrap="square" tIns="164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Quicksand"/>
                  <a:ea typeface="Quicksand"/>
                  <a:cs typeface="Quicksand"/>
                  <a:sym typeface="Quicksand"/>
                </a:rPr>
                <a:t>DESIGN</a:t>
              </a:r>
              <a:endParaRPr sz="1900"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15"/>
          <p:cNvSpPr txBox="1"/>
          <p:nvPr>
            <p:ph type="title"/>
          </p:nvPr>
        </p:nvSpPr>
        <p:spPr>
          <a:xfrm>
            <a:off x="152402" y="0"/>
            <a:ext cx="3829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</a:pP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b="1" i="0" lang="en-GB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ypes of </a:t>
            </a: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Joints</a:t>
            </a:r>
            <a:endParaRPr b="1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09" name="Google Shape;109;p15"/>
          <p:cNvSpPr txBox="1"/>
          <p:nvPr/>
        </p:nvSpPr>
        <p:spPr>
          <a:xfrm>
            <a:off x="963804" y="625788"/>
            <a:ext cx="25983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Aesthetics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Surface Area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Mechanical strength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Quicksand"/>
                <a:ea typeface="Quicksand"/>
                <a:cs typeface="Quicksand"/>
                <a:sym typeface="Quicksand"/>
              </a:rPr>
              <a:t>Difficulty to construct /10</a:t>
            </a:r>
            <a:endParaRPr b="1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0" name="Google Shape;110;p15"/>
          <p:cNvSpPr txBox="1"/>
          <p:nvPr/>
        </p:nvSpPr>
        <p:spPr>
          <a:xfrm>
            <a:off x="381000" y="382225"/>
            <a:ext cx="669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600">
                <a:solidFill>
                  <a:srgbClr val="C00000"/>
                </a:solidFill>
                <a:latin typeface="Quicksand"/>
                <a:ea typeface="Quicksand"/>
                <a:cs typeface="Quicksand"/>
                <a:sym typeface="Quicksand"/>
              </a:rPr>
              <a:t>Score each joint for the following</a:t>
            </a:r>
            <a:endParaRPr sz="1600">
              <a:solidFill>
                <a:srgbClr val="C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aphicFrame>
        <p:nvGraphicFramePr>
          <p:cNvPr id="111" name="Google Shape;111;p15"/>
          <p:cNvGraphicFramePr/>
          <p:nvPr/>
        </p:nvGraphicFramePr>
        <p:xfrm>
          <a:off x="152400" y="3284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{93DB6417-9BA5-44C6-BA8C-199371E52FA4}</a:tableStyleId>
              </a:tblPr>
              <a:tblGrid>
                <a:gridCol w="959500"/>
                <a:gridCol w="1800700"/>
                <a:gridCol w="1687125"/>
                <a:gridCol w="1687125"/>
                <a:gridCol w="1687125"/>
              </a:tblGrid>
              <a:tr h="27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b="1" sz="1300">
                        <a:solidFill>
                          <a:schemeClr val="dk1"/>
                        </a:solidFill>
                        <a:latin typeface="Quicksand"/>
                        <a:ea typeface="Quicksand"/>
                        <a:cs typeface="Quicksand"/>
                        <a:sym typeface="Quicksand"/>
                      </a:endParaRPr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3.75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6.5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8.25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4.75</a:t>
                      </a:r>
                      <a:r>
                        <a:rPr b="1" lang="en-GB" sz="13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/10</a:t>
                      </a:r>
                      <a:endParaRPr sz="13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2701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Aesthetics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Surface Area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6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Mechanical strength 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2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5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8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4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  <a:tr h="37680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000">
                          <a:solidFill>
                            <a:schemeClr val="dk1"/>
                          </a:solidFill>
                          <a:latin typeface="Quicksand"/>
                          <a:ea typeface="Quicksand"/>
                          <a:cs typeface="Quicksand"/>
                          <a:sym typeface="Quicksand"/>
                        </a:rPr>
                        <a:t>Difficulty to construct 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7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9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000"/>
                        <a:t>3</a:t>
                      </a:r>
                      <a:endParaRPr sz="1000"/>
                    </a:p>
                  </a:txBody>
                  <a:tcPr marT="36000" marB="36000" marR="91425" marL="54000" anchor="ctr"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pic>
        <p:nvPicPr>
          <p:cNvPr id="112" name="Google Shape;11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23925" y="1749925"/>
            <a:ext cx="6844474" cy="11736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 txBox="1"/>
          <p:nvPr/>
        </p:nvSpPr>
        <p:spPr>
          <a:xfrm>
            <a:off x="1526657" y="2963791"/>
            <a:ext cx="14028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Lap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920810" y="2952977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      Dowel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5" name="Google Shape;115;p15"/>
          <p:cNvSpPr txBox="1"/>
          <p:nvPr/>
        </p:nvSpPr>
        <p:spPr>
          <a:xfrm>
            <a:off x="4804311" y="2954123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Dovetail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16" name="Google Shape;116;p15"/>
          <p:cNvSpPr txBox="1"/>
          <p:nvPr/>
        </p:nvSpPr>
        <p:spPr>
          <a:xfrm>
            <a:off x="6185150" y="2963800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      Housing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17" name="Google Shape;117;p15"/>
          <p:cNvGrpSpPr/>
          <p:nvPr/>
        </p:nvGrpSpPr>
        <p:grpSpPr>
          <a:xfrm>
            <a:off x="7816774" y="292472"/>
            <a:ext cx="1428600" cy="1401129"/>
            <a:chOff x="7943849" y="151647"/>
            <a:chExt cx="1428600" cy="1401129"/>
          </a:xfrm>
        </p:grpSpPr>
        <p:pic>
          <p:nvPicPr>
            <p:cNvPr descr="Island School - Wikipedia" id="118" name="Google Shape;118;p1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8117858" y="151647"/>
              <a:ext cx="861267" cy="92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19" name="Google Shape;119;p15"/>
            <p:cNvSpPr txBox="1"/>
            <p:nvPr/>
          </p:nvSpPr>
          <p:spPr>
            <a:xfrm>
              <a:off x="7943849" y="928776"/>
              <a:ext cx="1428600" cy="6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4125" lIns="164125" spcFirstLastPara="1" rIns="164125" wrap="square" tIns="164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Quicksand"/>
                  <a:ea typeface="Quicksand"/>
                  <a:cs typeface="Quicksand"/>
                  <a:sym typeface="Quicksand"/>
                </a:rPr>
                <a:t>DESIGN</a:t>
              </a:r>
              <a:endParaRPr sz="1900"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Google Shape;124;p16"/>
          <p:cNvPicPr preferRelativeResize="0"/>
          <p:nvPr/>
        </p:nvPicPr>
        <p:blipFill rotWithShape="1">
          <a:blip r:embed="rId3">
            <a:alphaModFix/>
          </a:blip>
          <a:srcRect b="0" l="0" r="48613" t="0"/>
          <a:stretch/>
        </p:blipFill>
        <p:spPr>
          <a:xfrm>
            <a:off x="901800" y="1006250"/>
            <a:ext cx="5448949" cy="12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1093200" y="725675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Halving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6" name="Google Shape;126;p16"/>
          <p:cNvSpPr txBox="1"/>
          <p:nvPr/>
        </p:nvSpPr>
        <p:spPr>
          <a:xfrm>
            <a:off x="2824125" y="725667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Corner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7" name="Google Shape;127;p16"/>
          <p:cNvSpPr txBox="1"/>
          <p:nvPr/>
        </p:nvSpPr>
        <p:spPr>
          <a:xfrm>
            <a:off x="5122050" y="725675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Bridle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28" name="Google Shape;128;p16"/>
          <p:cNvSpPr txBox="1"/>
          <p:nvPr/>
        </p:nvSpPr>
        <p:spPr>
          <a:xfrm>
            <a:off x="1029750" y="2064325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Tee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29" name="Google Shape;129;p16"/>
          <p:cNvPicPr preferRelativeResize="0"/>
          <p:nvPr/>
        </p:nvPicPr>
        <p:blipFill rotWithShape="1">
          <a:blip r:embed="rId3">
            <a:alphaModFix/>
          </a:blip>
          <a:srcRect b="0" l="51213" r="11576" t="0"/>
          <a:stretch/>
        </p:blipFill>
        <p:spPr>
          <a:xfrm>
            <a:off x="901800" y="2337950"/>
            <a:ext cx="4220249" cy="1374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16"/>
          <p:cNvSpPr txBox="1"/>
          <p:nvPr/>
        </p:nvSpPr>
        <p:spPr>
          <a:xfrm>
            <a:off x="2974575" y="2064325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Through Vs Blind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029750" y="3858225"/>
            <a:ext cx="5266164" cy="1285275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/>
        </p:nvSpPr>
        <p:spPr>
          <a:xfrm>
            <a:off x="1093200" y="3564558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Tongue and Groove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3" name="Google Shape;133;p16"/>
          <p:cNvSpPr txBox="1"/>
          <p:nvPr/>
        </p:nvSpPr>
        <p:spPr>
          <a:xfrm>
            <a:off x="2974575" y="3564550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Biscuit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4" name="Google Shape;134;p16"/>
          <p:cNvSpPr txBox="1"/>
          <p:nvPr/>
        </p:nvSpPr>
        <p:spPr>
          <a:xfrm>
            <a:off x="4855950" y="3564558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Rebate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5" name="Google Shape;135;p16"/>
          <p:cNvSpPr txBox="1"/>
          <p:nvPr>
            <p:ph type="title"/>
          </p:nvPr>
        </p:nvSpPr>
        <p:spPr>
          <a:xfrm>
            <a:off x="152402" y="0"/>
            <a:ext cx="3829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</a:pP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b="1" i="0" lang="en-GB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ypes of </a:t>
            </a: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Joints</a:t>
            </a:r>
            <a:endParaRPr b="1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36" name="Google Shape;136;p16"/>
          <p:cNvSpPr txBox="1"/>
          <p:nvPr/>
        </p:nvSpPr>
        <p:spPr>
          <a:xfrm>
            <a:off x="381000" y="382225"/>
            <a:ext cx="6694800" cy="43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00000"/>
                </a:solidFill>
                <a:latin typeface="Quicksand"/>
                <a:ea typeface="Quicksand"/>
                <a:cs typeface="Quicksand"/>
                <a:sym typeface="Quicksand"/>
              </a:rPr>
              <a:t>Joint Terminology – Random questions found in exams</a:t>
            </a:r>
            <a:endParaRPr b="1" sz="1600">
              <a:solidFill>
                <a:srgbClr val="C00000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37" name="Google Shape;137;p16"/>
          <p:cNvGrpSpPr/>
          <p:nvPr/>
        </p:nvGrpSpPr>
        <p:grpSpPr>
          <a:xfrm>
            <a:off x="7816774" y="292472"/>
            <a:ext cx="1428600" cy="1401129"/>
            <a:chOff x="7943849" y="151647"/>
            <a:chExt cx="1428600" cy="1401129"/>
          </a:xfrm>
        </p:grpSpPr>
        <p:pic>
          <p:nvPicPr>
            <p:cNvPr descr="Island School - Wikipedia" id="138" name="Google Shape;138;p16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17858" y="151647"/>
              <a:ext cx="861267" cy="92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39" name="Google Shape;139;p16"/>
            <p:cNvSpPr txBox="1"/>
            <p:nvPr/>
          </p:nvSpPr>
          <p:spPr>
            <a:xfrm>
              <a:off x="7943849" y="928776"/>
              <a:ext cx="1428600" cy="6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4125" lIns="164125" spcFirstLastPara="1" rIns="164125" wrap="square" tIns="164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Quicksand"/>
                  <a:ea typeface="Quicksand"/>
                  <a:cs typeface="Quicksand"/>
                  <a:sym typeface="Quicksand"/>
                </a:rPr>
                <a:t>DESIGN</a:t>
              </a:r>
              <a:endParaRPr sz="1900"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grpSp>
        <p:nvGrpSpPr>
          <p:cNvPr id="140" name="Google Shape;140;p16"/>
          <p:cNvGrpSpPr/>
          <p:nvPr/>
        </p:nvGrpSpPr>
        <p:grpSpPr>
          <a:xfrm>
            <a:off x="6954150" y="2433613"/>
            <a:ext cx="1613450" cy="1100377"/>
            <a:chOff x="1029750" y="1083475"/>
            <a:chExt cx="1613450" cy="1100377"/>
          </a:xfrm>
        </p:grpSpPr>
        <p:sp>
          <p:nvSpPr>
            <p:cNvPr id="141" name="Google Shape;141;p16"/>
            <p:cNvSpPr/>
            <p:nvPr/>
          </p:nvSpPr>
          <p:spPr>
            <a:xfrm>
              <a:off x="1035850" y="1207552"/>
              <a:ext cx="1607350" cy="976300"/>
            </a:xfrm>
            <a:custGeom>
              <a:rect b="b" l="l" r="r" t="t"/>
              <a:pathLst>
                <a:path extrusionOk="0" h="39052" w="64294">
                  <a:moveTo>
                    <a:pt x="31909" y="9049"/>
                  </a:moveTo>
                  <a:lnTo>
                    <a:pt x="46672" y="0"/>
                  </a:lnTo>
                  <a:lnTo>
                    <a:pt x="64294" y="10001"/>
                  </a:lnTo>
                  <a:lnTo>
                    <a:pt x="16669" y="39052"/>
                  </a:lnTo>
                  <a:lnTo>
                    <a:pt x="0" y="29051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sp>
          <p:nvSpPr>
            <p:cNvPr id="142" name="Google Shape;142;p16"/>
            <p:cNvSpPr/>
            <p:nvPr/>
          </p:nvSpPr>
          <p:spPr>
            <a:xfrm>
              <a:off x="1854675" y="1616750"/>
              <a:ext cx="430975" cy="331925"/>
            </a:xfrm>
            <a:custGeom>
              <a:rect b="b" l="l" r="r" t="t"/>
              <a:pathLst>
                <a:path extrusionOk="0" h="13277" w="17239">
                  <a:moveTo>
                    <a:pt x="0" y="13277"/>
                  </a:moveTo>
                  <a:lnTo>
                    <a:pt x="423" y="10525"/>
                  </a:lnTo>
                  <a:lnTo>
                    <a:pt x="17227" y="0"/>
                  </a:lnTo>
                  <a:lnTo>
                    <a:pt x="17239" y="2462"/>
                  </a:lnTo>
                  <a:close/>
                </a:path>
              </a:pathLst>
            </a:custGeom>
            <a:solidFill>
              <a:schemeClr val="dk1"/>
            </a:solidFill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  <p:cxnSp>
          <p:nvCxnSpPr>
            <p:cNvPr id="143" name="Google Shape;143;p16"/>
            <p:cNvCxnSpPr/>
            <p:nvPr/>
          </p:nvCxnSpPr>
          <p:spPr>
            <a:xfrm>
              <a:off x="1449925" y="2055825"/>
              <a:ext cx="2700" cy="12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4" name="Google Shape;144;p16"/>
            <p:cNvCxnSpPr/>
            <p:nvPr/>
          </p:nvCxnSpPr>
          <p:spPr>
            <a:xfrm>
              <a:off x="1041142" y="1813987"/>
              <a:ext cx="2700" cy="12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cxnSp>
          <p:nvCxnSpPr>
            <p:cNvPr id="145" name="Google Shape;145;p16"/>
            <p:cNvCxnSpPr/>
            <p:nvPr/>
          </p:nvCxnSpPr>
          <p:spPr>
            <a:xfrm>
              <a:off x="2640444" y="1333303"/>
              <a:ext cx="2700" cy="124500"/>
            </a:xfrm>
            <a:prstGeom prst="straightConnector1">
              <a:avLst/>
            </a:prstGeom>
            <a:noFill/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cxnSp>
        <p:sp>
          <p:nvSpPr>
            <p:cNvPr id="146" name="Google Shape;146;p16"/>
            <p:cNvSpPr/>
            <p:nvPr/>
          </p:nvSpPr>
          <p:spPr>
            <a:xfrm>
              <a:off x="2203325" y="1095275"/>
              <a:ext cx="438950" cy="432550"/>
            </a:xfrm>
            <a:custGeom>
              <a:rect b="b" l="l" r="r" t="t"/>
              <a:pathLst>
                <a:path extrusionOk="0" h="17302" w="17558">
                  <a:moveTo>
                    <a:pt x="17558" y="14575"/>
                  </a:moveTo>
                  <a:lnTo>
                    <a:pt x="17473" y="10313"/>
                  </a:lnTo>
                  <a:lnTo>
                    <a:pt x="0" y="0"/>
                  </a:lnTo>
                  <a:lnTo>
                    <a:pt x="4176" y="173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cxnSp>
          <p:nvCxnSpPr>
            <p:cNvPr id="147" name="Google Shape;147;p16"/>
            <p:cNvCxnSpPr/>
            <p:nvPr/>
          </p:nvCxnSpPr>
          <p:spPr>
            <a:xfrm>
              <a:off x="2371650" y="1099525"/>
              <a:ext cx="204600" cy="204600"/>
            </a:xfrm>
            <a:prstGeom prst="straightConnector1">
              <a:avLst/>
            </a:prstGeom>
            <a:solidFill>
              <a:schemeClr val="lt2"/>
            </a:solidFill>
            <a:ln>
              <a:noFill/>
            </a:ln>
          </p:spPr>
        </p:cxnSp>
        <p:sp>
          <p:nvSpPr>
            <p:cNvPr id="148" name="Google Shape;148;p16"/>
            <p:cNvSpPr/>
            <p:nvPr/>
          </p:nvSpPr>
          <p:spPr>
            <a:xfrm flipH="1">
              <a:off x="1029750" y="1566438"/>
              <a:ext cx="438950" cy="432550"/>
            </a:xfrm>
            <a:custGeom>
              <a:rect b="b" l="l" r="r" t="t"/>
              <a:pathLst>
                <a:path extrusionOk="0" h="17302" w="17558">
                  <a:moveTo>
                    <a:pt x="17558" y="14575"/>
                  </a:moveTo>
                  <a:lnTo>
                    <a:pt x="17473" y="10313"/>
                  </a:lnTo>
                  <a:lnTo>
                    <a:pt x="0" y="0"/>
                  </a:lnTo>
                  <a:lnTo>
                    <a:pt x="4176" y="17302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</p:sp>
        <p:sp>
          <p:nvSpPr>
            <p:cNvPr id="149" name="Google Shape;149;p16"/>
            <p:cNvSpPr/>
            <p:nvPr/>
          </p:nvSpPr>
          <p:spPr>
            <a:xfrm>
              <a:off x="1035850" y="1083475"/>
              <a:ext cx="1607350" cy="976300"/>
            </a:xfrm>
            <a:custGeom>
              <a:rect b="b" l="l" r="r" t="t"/>
              <a:pathLst>
                <a:path extrusionOk="0" h="39052" w="64294">
                  <a:moveTo>
                    <a:pt x="31909" y="9049"/>
                  </a:moveTo>
                  <a:lnTo>
                    <a:pt x="46672" y="0"/>
                  </a:lnTo>
                  <a:lnTo>
                    <a:pt x="64294" y="10001"/>
                  </a:lnTo>
                  <a:lnTo>
                    <a:pt x="16669" y="39052"/>
                  </a:lnTo>
                  <a:lnTo>
                    <a:pt x="0" y="29051"/>
                  </a:lnTo>
                  <a:close/>
                </a:path>
              </a:pathLst>
            </a:custGeom>
            <a:solidFill>
              <a:schemeClr val="lt2"/>
            </a:solidFill>
            <a:ln cap="flat" cmpd="sng" w="9525">
              <a:solidFill>
                <a:schemeClr val="dk2"/>
              </a:solidFill>
              <a:prstDash val="solid"/>
              <a:round/>
              <a:headEnd len="med" w="med" type="none"/>
              <a:tailEnd len="med" w="med" type="none"/>
            </a:ln>
          </p:spPr>
        </p:sp>
      </p:grp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7"/>
          <p:cNvPicPr preferRelativeResize="0"/>
          <p:nvPr/>
        </p:nvPicPr>
        <p:blipFill rotWithShape="1">
          <a:blip r:embed="rId3">
            <a:alphaModFix/>
          </a:blip>
          <a:srcRect b="0" l="22408" r="64011" t="0"/>
          <a:stretch/>
        </p:blipFill>
        <p:spPr>
          <a:xfrm>
            <a:off x="1726400" y="1576425"/>
            <a:ext cx="1091887" cy="1305775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p17"/>
          <p:cNvSpPr txBox="1"/>
          <p:nvPr/>
        </p:nvSpPr>
        <p:spPr>
          <a:xfrm>
            <a:off x="1523988" y="1182550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Cross halving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6" name="Google Shape;156;p17"/>
          <p:cNvSpPr txBox="1"/>
          <p:nvPr/>
        </p:nvSpPr>
        <p:spPr>
          <a:xfrm>
            <a:off x="335300" y="1182550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Finger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57" name="Google Shape;157;p17"/>
          <p:cNvSpPr txBox="1"/>
          <p:nvPr/>
        </p:nvSpPr>
        <p:spPr>
          <a:xfrm>
            <a:off x="4501150" y="1182550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Mortise &amp; tenon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58" name="Google Shape;158;p17"/>
          <p:cNvPicPr preferRelativeResize="0"/>
          <p:nvPr/>
        </p:nvPicPr>
        <p:blipFill rotWithShape="1">
          <a:blip r:embed="rId4">
            <a:alphaModFix/>
          </a:blip>
          <a:srcRect b="0" l="74109" r="0" t="0"/>
          <a:stretch/>
        </p:blipFill>
        <p:spPr>
          <a:xfrm>
            <a:off x="6173346" y="1576425"/>
            <a:ext cx="2048851" cy="1356925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7"/>
          <p:cNvSpPr txBox="1"/>
          <p:nvPr/>
        </p:nvSpPr>
        <p:spPr>
          <a:xfrm>
            <a:off x="3303925" y="1182550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Lap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60" name="Google Shape;160;p17"/>
          <p:cNvSpPr txBox="1"/>
          <p:nvPr/>
        </p:nvSpPr>
        <p:spPr>
          <a:xfrm>
            <a:off x="6500025" y="1158600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Housing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pic>
        <p:nvPicPr>
          <p:cNvPr id="161" name="Google Shape;161;p17"/>
          <p:cNvPicPr preferRelativeResize="0"/>
          <p:nvPr/>
        </p:nvPicPr>
        <p:blipFill rotWithShape="1">
          <a:blip r:embed="rId4">
            <a:alphaModFix/>
          </a:blip>
          <a:srcRect b="0" l="-1015" r="75124" t="0"/>
          <a:stretch/>
        </p:blipFill>
        <p:spPr>
          <a:xfrm>
            <a:off x="2999125" y="1766188"/>
            <a:ext cx="1475801" cy="977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" name="Google Shape;162;p17"/>
          <p:cNvPicPr preferRelativeResize="0"/>
          <p:nvPr/>
        </p:nvPicPr>
        <p:blipFill rotWithShape="1">
          <a:blip r:embed="rId3">
            <a:alphaModFix/>
          </a:blip>
          <a:srcRect b="0" l="37981" r="44539" t="0"/>
          <a:stretch/>
        </p:blipFill>
        <p:spPr>
          <a:xfrm>
            <a:off x="47925" y="1527900"/>
            <a:ext cx="1538902" cy="142988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3" name="Google Shape;163;p17"/>
          <p:cNvPicPr preferRelativeResize="0"/>
          <p:nvPr/>
        </p:nvPicPr>
        <p:blipFill rotWithShape="1">
          <a:blip r:embed="rId3">
            <a:alphaModFix/>
          </a:blip>
          <a:srcRect b="0" l="55416" r="23774" t="0"/>
          <a:stretch/>
        </p:blipFill>
        <p:spPr>
          <a:xfrm>
            <a:off x="4596099" y="1653412"/>
            <a:ext cx="1475800" cy="1151809"/>
          </a:xfrm>
          <a:prstGeom prst="rect">
            <a:avLst/>
          </a:prstGeom>
          <a:noFill/>
          <a:ln>
            <a:noFill/>
          </a:ln>
        </p:spPr>
      </p:pic>
      <p:sp>
        <p:nvSpPr>
          <p:cNvPr id="164" name="Google Shape;164;p17"/>
          <p:cNvSpPr txBox="1"/>
          <p:nvPr/>
        </p:nvSpPr>
        <p:spPr>
          <a:xfrm>
            <a:off x="168075" y="638050"/>
            <a:ext cx="73032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Task: </a:t>
            </a: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Using a range of scrap materials, by hand, create as many joints as possible! Be accurate with measurements and </a:t>
            </a: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quality</a:t>
            </a: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 of the joint model</a:t>
            </a:r>
            <a:endParaRPr b="1" sz="1500"/>
          </a:p>
        </p:txBody>
      </p:sp>
      <p:sp>
        <p:nvSpPr>
          <p:cNvPr id="165" name="Google Shape;165;p17"/>
          <p:cNvSpPr txBox="1"/>
          <p:nvPr/>
        </p:nvSpPr>
        <p:spPr>
          <a:xfrm>
            <a:off x="1090150" y="3735575"/>
            <a:ext cx="30000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How do you create them?</a:t>
            </a:r>
            <a:endParaRPr b="1"/>
          </a:p>
        </p:txBody>
      </p:sp>
      <p:sp>
        <p:nvSpPr>
          <p:cNvPr id="166" name="Google Shape;166;p17"/>
          <p:cNvSpPr txBox="1"/>
          <p:nvPr>
            <p:ph type="title"/>
          </p:nvPr>
        </p:nvSpPr>
        <p:spPr>
          <a:xfrm>
            <a:off x="152402" y="0"/>
            <a:ext cx="3829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</a:pP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b="1" i="0" lang="en-GB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ypes of </a:t>
            </a: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Joints</a:t>
            </a:r>
            <a:endParaRPr b="1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67" name="Google Shape;167;p17"/>
          <p:cNvGrpSpPr/>
          <p:nvPr/>
        </p:nvGrpSpPr>
        <p:grpSpPr>
          <a:xfrm>
            <a:off x="7816774" y="292472"/>
            <a:ext cx="1428600" cy="1401129"/>
            <a:chOff x="7943849" y="151647"/>
            <a:chExt cx="1428600" cy="1401129"/>
          </a:xfrm>
        </p:grpSpPr>
        <p:pic>
          <p:nvPicPr>
            <p:cNvPr descr="Island School - Wikipedia" id="168" name="Google Shape;168;p17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8117858" y="151647"/>
              <a:ext cx="861267" cy="92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9" name="Google Shape;169;p17"/>
            <p:cNvSpPr txBox="1"/>
            <p:nvPr/>
          </p:nvSpPr>
          <p:spPr>
            <a:xfrm>
              <a:off x="7943849" y="928776"/>
              <a:ext cx="1428600" cy="6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4125" lIns="164125" spcFirstLastPara="1" rIns="164125" wrap="square" tIns="164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Quicksand"/>
                  <a:ea typeface="Quicksand"/>
                  <a:cs typeface="Quicksand"/>
                  <a:sym typeface="Quicksand"/>
                </a:rPr>
                <a:t>DESIGN</a:t>
              </a:r>
              <a:endParaRPr sz="1900"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70" name="Google Shape;170;p17"/>
          <p:cNvSpPr txBox="1"/>
          <p:nvPr/>
        </p:nvSpPr>
        <p:spPr>
          <a:xfrm>
            <a:off x="2237425" y="4525025"/>
            <a:ext cx="414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What is the best modelling material for each?</a:t>
            </a:r>
            <a:endParaRPr b="1"/>
          </a:p>
        </p:txBody>
      </p:sp>
      <p:sp>
        <p:nvSpPr>
          <p:cNvPr id="171" name="Google Shape;171;p17"/>
          <p:cNvSpPr txBox="1"/>
          <p:nvPr/>
        </p:nvSpPr>
        <p:spPr>
          <a:xfrm>
            <a:off x="4419925" y="3350663"/>
            <a:ext cx="4146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Which techniques and skills might be useful?</a:t>
            </a:r>
            <a:endParaRPr b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18"/>
          <p:cNvSpPr txBox="1"/>
          <p:nvPr/>
        </p:nvSpPr>
        <p:spPr>
          <a:xfrm>
            <a:off x="1673713" y="3194450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Cross halving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7" name="Google Shape;177;p18"/>
          <p:cNvSpPr txBox="1"/>
          <p:nvPr/>
        </p:nvSpPr>
        <p:spPr>
          <a:xfrm>
            <a:off x="387600" y="964605"/>
            <a:ext cx="1630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Finger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8" name="Google Shape;178;p18"/>
          <p:cNvSpPr txBox="1"/>
          <p:nvPr/>
        </p:nvSpPr>
        <p:spPr>
          <a:xfrm>
            <a:off x="4985075" y="964605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Mortise &amp; tenon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79" name="Google Shape;179;p18"/>
          <p:cNvSpPr txBox="1"/>
          <p:nvPr/>
        </p:nvSpPr>
        <p:spPr>
          <a:xfrm>
            <a:off x="2670900" y="964605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Lap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0" name="Google Shape;180;p18"/>
          <p:cNvSpPr txBox="1"/>
          <p:nvPr/>
        </p:nvSpPr>
        <p:spPr>
          <a:xfrm>
            <a:off x="3903125" y="3194450"/>
            <a:ext cx="1832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latin typeface="Quicksand"/>
                <a:ea typeface="Quicksand"/>
                <a:cs typeface="Quicksand"/>
                <a:sym typeface="Quicksand"/>
              </a:rPr>
              <a:t>Housing Joint</a:t>
            </a:r>
            <a:endParaRPr b="1" sz="1200">
              <a:latin typeface="Quicksand"/>
              <a:ea typeface="Quicksand"/>
              <a:cs typeface="Quicksand"/>
              <a:sym typeface="Quicksand"/>
            </a:endParaRPr>
          </a:p>
        </p:txBody>
      </p:sp>
      <p:sp>
        <p:nvSpPr>
          <p:cNvPr id="181" name="Google Shape;181;p18"/>
          <p:cNvSpPr txBox="1"/>
          <p:nvPr/>
        </p:nvSpPr>
        <p:spPr>
          <a:xfrm>
            <a:off x="168075" y="638050"/>
            <a:ext cx="73032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Task: Add photos of your joining tests - add notes </a:t>
            </a:r>
            <a:endParaRPr b="1" sz="1500"/>
          </a:p>
        </p:txBody>
      </p:sp>
      <p:sp>
        <p:nvSpPr>
          <p:cNvPr id="182" name="Google Shape;182;p18"/>
          <p:cNvSpPr txBox="1"/>
          <p:nvPr/>
        </p:nvSpPr>
        <p:spPr>
          <a:xfrm>
            <a:off x="7352675" y="4119175"/>
            <a:ext cx="1640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How do you create them?</a:t>
            </a:r>
            <a:endParaRPr b="1"/>
          </a:p>
        </p:txBody>
      </p:sp>
      <p:sp>
        <p:nvSpPr>
          <p:cNvPr id="183" name="Google Shape;183;p18"/>
          <p:cNvSpPr txBox="1"/>
          <p:nvPr>
            <p:ph type="title"/>
          </p:nvPr>
        </p:nvSpPr>
        <p:spPr>
          <a:xfrm>
            <a:off x="152402" y="0"/>
            <a:ext cx="3829800" cy="62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eko"/>
              <a:buNone/>
            </a:pP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T</a:t>
            </a:r>
            <a:r>
              <a:rPr b="1" i="0" lang="en-GB" sz="1800" u="none" cap="none" strike="noStrike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ypes of </a:t>
            </a:r>
            <a:r>
              <a:rPr b="1" lang="en-GB" sz="1800">
                <a:latin typeface="Quicksand"/>
                <a:ea typeface="Quicksand"/>
                <a:cs typeface="Quicksand"/>
                <a:sym typeface="Quicksand"/>
              </a:rPr>
              <a:t>Joints</a:t>
            </a:r>
            <a:endParaRPr b="1" i="0" sz="1800" u="none" cap="none" strike="noStrike">
              <a:solidFill>
                <a:schemeClr val="dk1"/>
              </a:solidFill>
              <a:latin typeface="Quicksand"/>
              <a:ea typeface="Quicksand"/>
              <a:cs typeface="Quicksand"/>
              <a:sym typeface="Quicksand"/>
            </a:endParaRPr>
          </a:p>
        </p:txBody>
      </p:sp>
      <p:grpSp>
        <p:nvGrpSpPr>
          <p:cNvPr id="184" name="Google Shape;184;p18"/>
          <p:cNvGrpSpPr/>
          <p:nvPr/>
        </p:nvGrpSpPr>
        <p:grpSpPr>
          <a:xfrm>
            <a:off x="7816774" y="292472"/>
            <a:ext cx="1428600" cy="1401129"/>
            <a:chOff x="7943849" y="151647"/>
            <a:chExt cx="1428600" cy="1401129"/>
          </a:xfrm>
        </p:grpSpPr>
        <p:pic>
          <p:nvPicPr>
            <p:cNvPr descr="Island School - Wikipedia" id="185" name="Google Shape;185;p1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117858" y="151647"/>
              <a:ext cx="861267" cy="9234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86" name="Google Shape;186;p18"/>
            <p:cNvSpPr txBox="1"/>
            <p:nvPr/>
          </p:nvSpPr>
          <p:spPr>
            <a:xfrm>
              <a:off x="7943849" y="928776"/>
              <a:ext cx="1428600" cy="624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164125" lIns="164125" spcFirstLastPara="1" rIns="164125" wrap="square" tIns="164125">
              <a:sp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900">
                  <a:latin typeface="Quicksand"/>
                  <a:ea typeface="Quicksand"/>
                  <a:cs typeface="Quicksand"/>
                  <a:sym typeface="Quicksand"/>
                </a:rPr>
                <a:t>DESIGN</a:t>
              </a:r>
              <a:endParaRPr sz="1900">
                <a:latin typeface="Quicksand"/>
                <a:ea typeface="Quicksand"/>
                <a:cs typeface="Quicksand"/>
                <a:sym typeface="Quicksand"/>
              </a:endParaRPr>
            </a:p>
          </p:txBody>
        </p:sp>
      </p:grpSp>
      <p:sp>
        <p:nvSpPr>
          <p:cNvPr id="187" name="Google Shape;187;p18"/>
          <p:cNvSpPr txBox="1"/>
          <p:nvPr/>
        </p:nvSpPr>
        <p:spPr>
          <a:xfrm>
            <a:off x="7276475" y="2792800"/>
            <a:ext cx="17925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What is the best modelling material for each?</a:t>
            </a:r>
            <a:endParaRPr b="1"/>
          </a:p>
        </p:txBody>
      </p:sp>
      <p:sp>
        <p:nvSpPr>
          <p:cNvPr id="188" name="Google Shape;188;p18"/>
          <p:cNvSpPr txBox="1"/>
          <p:nvPr/>
        </p:nvSpPr>
        <p:spPr>
          <a:xfrm>
            <a:off x="7276475" y="1624900"/>
            <a:ext cx="16821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chemeClr val="dk1"/>
                </a:solidFill>
                <a:latin typeface="Quicksand"/>
                <a:ea typeface="Quicksand"/>
                <a:cs typeface="Quicksand"/>
                <a:sym typeface="Quicksand"/>
              </a:rPr>
              <a:t>Which techniques and skills might be useful?</a:t>
            </a:r>
            <a:endParaRPr b="1"/>
          </a:p>
        </p:txBody>
      </p:sp>
      <p:sp>
        <p:nvSpPr>
          <p:cNvPr id="189" name="Google Shape;189;p18"/>
          <p:cNvSpPr/>
          <p:nvPr/>
        </p:nvSpPr>
        <p:spPr>
          <a:xfrm>
            <a:off x="287725" y="1293632"/>
            <a:ext cx="1970100" cy="135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2601900" y="1293632"/>
            <a:ext cx="1970100" cy="135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4916075" y="1293632"/>
            <a:ext cx="1970100" cy="135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1441250" y="3590300"/>
            <a:ext cx="1970100" cy="135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3834125" y="3590300"/>
            <a:ext cx="1970100" cy="13512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