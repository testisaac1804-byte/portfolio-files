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Quicksand"/>
      <p:regular r:id="rId14"/>
      <p:bold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Quicksand-bold.fntdata"/><Relationship Id="rId14" Type="http://schemas.openxmlformats.org/officeDocument/2006/relationships/font" Target="fonts/Quicksan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277e3342d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277e3342d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277e3342d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277e3342d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277e3342d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277e3342d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277e3342d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277e3342d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277e3342d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277e3342d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479b6b661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479b6b661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4f44c1344d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4f44c1344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4f44c1344d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4f44c1344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hyperlink" Target="http://www.youtube.com/watch?v=FMjl6rwJSLg" TargetMode="External"/><Relationship Id="rId6"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hyperlink" Target="http://www.youtube.com/watch?v=S70sUttTx_s" TargetMode="External"/><Relationship Id="rId6" Type="http://schemas.openxmlformats.org/officeDocument/2006/relationships/image" Target="../media/image6.jpg"/><Relationship Id="rId7" Type="http://schemas.openxmlformats.org/officeDocument/2006/relationships/hyperlink" Target="http://www.youtube.com/watch?v=qE54gpPWjSA" TargetMode="External"/><Relationship Id="rId8"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hyperlink" Target="http://www.youtube.com/watch?v=9LBF9DnZTF0" TargetMode="External"/><Relationship Id="rId6" Type="http://schemas.openxmlformats.org/officeDocument/2006/relationships/image" Target="../media/image12.jpg"/><Relationship Id="rId7" Type="http://schemas.openxmlformats.org/officeDocument/2006/relationships/hyperlink" Target="http://www.youtube.com/watch?v=C0G4znWbC2E" TargetMode="External"/><Relationship Id="rId8"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13.png"/><Relationship Id="rId6" Type="http://schemas.openxmlformats.org/officeDocument/2006/relationships/hyperlink" Target="http://www.youtube.com/watch?v=LGw3x4gErOA" TargetMode="External"/><Relationship Id="rId7"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94275" y="628875"/>
            <a:ext cx="8520600" cy="1197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GB" sz="6800">
                <a:latin typeface="Quicksand"/>
                <a:ea typeface="Quicksand"/>
                <a:cs typeface="Quicksand"/>
                <a:sym typeface="Quicksand"/>
              </a:rPr>
              <a:t>Water Polo</a:t>
            </a:r>
            <a:endParaRPr b="1" sz="6800">
              <a:latin typeface="Quicksand"/>
              <a:ea typeface="Quicksand"/>
              <a:cs typeface="Quicksand"/>
              <a:sym typeface="Quicksand"/>
            </a:endParaRPr>
          </a:p>
        </p:txBody>
      </p:sp>
      <p:pic>
        <p:nvPicPr>
          <p:cNvPr id="55" name="Google Shape;55;p13"/>
          <p:cNvPicPr preferRelativeResize="0"/>
          <p:nvPr/>
        </p:nvPicPr>
        <p:blipFill rotWithShape="1">
          <a:blip r:embed="rId3">
            <a:alphaModFix/>
          </a:blip>
          <a:srcRect b="10743" l="12077" r="11680" t="12192"/>
          <a:stretch/>
        </p:blipFill>
        <p:spPr>
          <a:xfrm>
            <a:off x="3316075" y="1826164"/>
            <a:ext cx="2511875" cy="2594261"/>
          </a:xfrm>
          <a:prstGeom prst="rect">
            <a:avLst/>
          </a:prstGeom>
          <a:noFill/>
          <a:ln>
            <a:noFill/>
          </a:ln>
        </p:spPr>
      </p:pic>
      <p:pic>
        <p:nvPicPr>
          <p:cNvPr id="56" name="Google Shape;56;p13"/>
          <p:cNvPicPr preferRelativeResize="0"/>
          <p:nvPr/>
        </p:nvPicPr>
        <p:blipFill rotWithShape="1">
          <a:blip r:embed="rId4">
            <a:alphaModFix/>
          </a:blip>
          <a:srcRect b="4375" l="5788" r="4332" t="2550"/>
          <a:stretch/>
        </p:blipFill>
        <p:spPr>
          <a:xfrm>
            <a:off x="0" y="0"/>
            <a:ext cx="1604700" cy="1236000"/>
          </a:xfrm>
          <a:prstGeom prst="triangle">
            <a:avLst>
              <a:gd fmla="val 50000" name="adj"/>
            </a:avLst>
          </a:prstGeom>
          <a:noFill/>
          <a:ln>
            <a:noFill/>
          </a:ln>
        </p:spPr>
      </p:pic>
      <p:pic>
        <p:nvPicPr>
          <p:cNvPr id="57" name="Google Shape;57;p13"/>
          <p:cNvPicPr preferRelativeResize="0"/>
          <p:nvPr/>
        </p:nvPicPr>
        <p:blipFill rotWithShape="1">
          <a:blip r:embed="rId4">
            <a:alphaModFix/>
          </a:blip>
          <a:srcRect b="4375" l="5788" r="4332" t="2550"/>
          <a:stretch/>
        </p:blipFill>
        <p:spPr>
          <a:xfrm>
            <a:off x="7479250" y="28825"/>
            <a:ext cx="1604700" cy="1236000"/>
          </a:xfrm>
          <a:prstGeom prst="triangle">
            <a:avLst>
              <a:gd fmla="val 50000" name="adj"/>
            </a:avLst>
          </a:prstGeom>
          <a:noFill/>
          <a:ln>
            <a:noFill/>
          </a:ln>
        </p:spPr>
      </p:pic>
      <p:pic>
        <p:nvPicPr>
          <p:cNvPr id="58" name="Google Shape;58;p13"/>
          <p:cNvPicPr preferRelativeResize="0"/>
          <p:nvPr/>
        </p:nvPicPr>
        <p:blipFill rotWithShape="1">
          <a:blip r:embed="rId4">
            <a:alphaModFix/>
          </a:blip>
          <a:srcRect b="4375" l="5788" r="4332" t="2550"/>
          <a:stretch/>
        </p:blipFill>
        <p:spPr>
          <a:xfrm>
            <a:off x="66738" y="3900850"/>
            <a:ext cx="1604700" cy="1236000"/>
          </a:xfrm>
          <a:prstGeom prst="triangle">
            <a:avLst>
              <a:gd fmla="val 50000" name="adj"/>
            </a:avLst>
          </a:prstGeom>
          <a:noFill/>
          <a:ln>
            <a:noFill/>
          </a:ln>
        </p:spPr>
      </p:pic>
      <p:pic>
        <p:nvPicPr>
          <p:cNvPr id="59" name="Google Shape;59;p13"/>
          <p:cNvPicPr preferRelativeResize="0"/>
          <p:nvPr/>
        </p:nvPicPr>
        <p:blipFill rotWithShape="1">
          <a:blip r:embed="rId4">
            <a:alphaModFix/>
          </a:blip>
          <a:srcRect b="4375" l="5788" r="4332" t="2550"/>
          <a:stretch/>
        </p:blipFill>
        <p:spPr>
          <a:xfrm>
            <a:off x="7545988" y="3929675"/>
            <a:ext cx="1604700" cy="1236000"/>
          </a:xfrm>
          <a:prstGeom prst="triangle">
            <a:avLst>
              <a:gd fmla="val 50000" name="adj"/>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idx="1" type="subTitle"/>
          </p:nvPr>
        </p:nvSpPr>
        <p:spPr>
          <a:xfrm>
            <a:off x="311700" y="1037925"/>
            <a:ext cx="4693500" cy="37020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500">
                <a:solidFill>
                  <a:srgbClr val="474747"/>
                </a:solidFill>
                <a:highlight>
                  <a:srgbClr val="FCFCFC"/>
                </a:highlight>
                <a:latin typeface="Quicksand"/>
                <a:ea typeface="Quicksand"/>
                <a:cs typeface="Quicksand"/>
                <a:sym typeface="Quicksand"/>
              </a:rPr>
              <a:t>The first attempts of the sport we know today were in English and Scottish lakes and rivers in the mid 19th century. The earliest versions of the aquatic sport have few to none similarities to the water polo we know today. On the island of Great Britain, that sport was a slightly weird, water version of rugby.</a:t>
            </a:r>
            <a:endParaRPr sz="1500">
              <a:solidFill>
                <a:srgbClr val="474747"/>
              </a:solidFill>
              <a:highlight>
                <a:srgbClr val="FCFCFC"/>
              </a:highlight>
              <a:latin typeface="Quicksand"/>
              <a:ea typeface="Quicksand"/>
              <a:cs typeface="Quicksand"/>
              <a:sym typeface="Quicksand"/>
            </a:endParaRPr>
          </a:p>
          <a:p>
            <a:pPr indent="0" lvl="0" marL="0" rtl="0" algn="l">
              <a:lnSpc>
                <a:spcPct val="105000"/>
              </a:lnSpc>
              <a:spcBef>
                <a:spcPts val="0"/>
              </a:spcBef>
              <a:spcAft>
                <a:spcPts val="0"/>
              </a:spcAft>
              <a:buNone/>
            </a:pPr>
            <a:r>
              <a:t/>
            </a:r>
            <a:endParaRPr sz="1500">
              <a:solidFill>
                <a:srgbClr val="474747"/>
              </a:solidFill>
              <a:highlight>
                <a:srgbClr val="FCFCFC"/>
              </a:highlight>
              <a:latin typeface="Quicksand"/>
              <a:ea typeface="Quicksand"/>
              <a:cs typeface="Quicksand"/>
              <a:sym typeface="Quicksand"/>
            </a:endParaRPr>
          </a:p>
          <a:p>
            <a:pPr indent="0" lvl="0" marL="0" rtl="0" algn="l">
              <a:lnSpc>
                <a:spcPct val="105000"/>
              </a:lnSpc>
              <a:spcBef>
                <a:spcPts val="0"/>
              </a:spcBef>
              <a:spcAft>
                <a:spcPts val="0"/>
              </a:spcAft>
              <a:buNone/>
            </a:pPr>
            <a:r>
              <a:rPr lang="en-GB" sz="1500">
                <a:solidFill>
                  <a:srgbClr val="3B3B3B"/>
                </a:solidFill>
                <a:latin typeface="Quicksand"/>
                <a:ea typeface="Quicksand"/>
                <a:cs typeface="Quicksand"/>
                <a:sym typeface="Quicksand"/>
              </a:rPr>
              <a:t>Water polo has been part of the Olympic program since the second Olympic Games in 1900. Women’s water polo was introduced at the 2000 Sydney Olympic Games.</a:t>
            </a:r>
            <a:endParaRPr sz="1500">
              <a:solidFill>
                <a:srgbClr val="474747"/>
              </a:solidFill>
              <a:highlight>
                <a:srgbClr val="FCFCFC"/>
              </a:highlight>
              <a:latin typeface="Quicksand"/>
              <a:ea typeface="Quicksand"/>
              <a:cs typeface="Quicksand"/>
              <a:sym typeface="Quicksand"/>
            </a:endParaRPr>
          </a:p>
        </p:txBody>
      </p:sp>
      <p:sp>
        <p:nvSpPr>
          <p:cNvPr id="65" name="Google Shape;65;p14"/>
          <p:cNvSpPr txBox="1"/>
          <p:nvPr>
            <p:ph idx="1" type="subTitle"/>
          </p:nvPr>
        </p:nvSpPr>
        <p:spPr>
          <a:xfrm>
            <a:off x="357850" y="354650"/>
            <a:ext cx="46935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3000">
                <a:latin typeface="Quicksand"/>
                <a:ea typeface="Quicksand"/>
                <a:cs typeface="Quicksand"/>
                <a:sym typeface="Quicksand"/>
              </a:rPr>
              <a:t>Water Polo </a:t>
            </a:r>
            <a:endParaRPr b="1" sz="3000">
              <a:latin typeface="Quicksand"/>
              <a:ea typeface="Quicksand"/>
              <a:cs typeface="Quicksand"/>
              <a:sym typeface="Quicksand"/>
            </a:endParaRPr>
          </a:p>
        </p:txBody>
      </p:sp>
      <p:pic>
        <p:nvPicPr>
          <p:cNvPr id="66" name="Google Shape;66;p14"/>
          <p:cNvPicPr preferRelativeResize="0"/>
          <p:nvPr/>
        </p:nvPicPr>
        <p:blipFill rotWithShape="1">
          <a:blip r:embed="rId3">
            <a:alphaModFix/>
          </a:blip>
          <a:srcRect b="10743" l="12077" r="11680" t="12192"/>
          <a:stretch/>
        </p:blipFill>
        <p:spPr>
          <a:xfrm>
            <a:off x="8376560" y="0"/>
            <a:ext cx="767440" cy="792600"/>
          </a:xfrm>
          <a:prstGeom prst="rect">
            <a:avLst/>
          </a:prstGeom>
          <a:noFill/>
          <a:ln>
            <a:noFill/>
          </a:ln>
        </p:spPr>
      </p:pic>
      <p:pic>
        <p:nvPicPr>
          <p:cNvPr id="67" name="Google Shape;67;p14"/>
          <p:cNvPicPr preferRelativeResize="0"/>
          <p:nvPr/>
        </p:nvPicPr>
        <p:blipFill rotWithShape="1">
          <a:blip r:embed="rId4">
            <a:alphaModFix/>
          </a:blip>
          <a:srcRect b="0" l="7450" r="0" t="0"/>
          <a:stretch/>
        </p:blipFill>
        <p:spPr>
          <a:xfrm>
            <a:off x="5239425" y="2928725"/>
            <a:ext cx="3436600" cy="1949475"/>
          </a:xfrm>
          <a:prstGeom prst="rect">
            <a:avLst/>
          </a:prstGeom>
          <a:noFill/>
          <a:ln>
            <a:noFill/>
          </a:ln>
        </p:spPr>
      </p:pic>
      <p:pic>
        <p:nvPicPr>
          <p:cNvPr id="68" name="Google Shape;68;p14"/>
          <p:cNvPicPr preferRelativeResize="0"/>
          <p:nvPr/>
        </p:nvPicPr>
        <p:blipFill>
          <a:blip r:embed="rId5">
            <a:alphaModFix/>
          </a:blip>
          <a:stretch>
            <a:fillRect/>
          </a:stretch>
        </p:blipFill>
        <p:spPr>
          <a:xfrm>
            <a:off x="5183500" y="1089975"/>
            <a:ext cx="3492526" cy="157649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idx="1" type="subTitle"/>
          </p:nvPr>
        </p:nvSpPr>
        <p:spPr>
          <a:xfrm>
            <a:off x="311700" y="3661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sz="3000">
                <a:latin typeface="Quicksand"/>
                <a:ea typeface="Quicksand"/>
                <a:cs typeface="Quicksand"/>
                <a:sym typeface="Quicksand"/>
              </a:rPr>
              <a:t>Learn the rules</a:t>
            </a:r>
            <a:endParaRPr b="1" sz="3000">
              <a:latin typeface="Quicksand"/>
              <a:ea typeface="Quicksand"/>
              <a:cs typeface="Quicksand"/>
              <a:sym typeface="Quicksand"/>
            </a:endParaRPr>
          </a:p>
        </p:txBody>
      </p:sp>
      <p:pic>
        <p:nvPicPr>
          <p:cNvPr id="74" name="Google Shape;74;p15"/>
          <p:cNvPicPr preferRelativeResize="0"/>
          <p:nvPr/>
        </p:nvPicPr>
        <p:blipFill>
          <a:blip r:embed="rId3">
            <a:alphaModFix/>
          </a:blip>
          <a:stretch>
            <a:fillRect/>
          </a:stretch>
        </p:blipFill>
        <p:spPr>
          <a:xfrm>
            <a:off x="8390574" y="36718"/>
            <a:ext cx="709349" cy="724848"/>
          </a:xfrm>
          <a:prstGeom prst="rect">
            <a:avLst/>
          </a:prstGeom>
          <a:noFill/>
          <a:ln>
            <a:noFill/>
          </a:ln>
        </p:spPr>
      </p:pic>
      <p:pic>
        <p:nvPicPr>
          <p:cNvPr id="75" name="Google Shape;75;p15"/>
          <p:cNvPicPr preferRelativeResize="0"/>
          <p:nvPr/>
        </p:nvPicPr>
        <p:blipFill rotWithShape="1">
          <a:blip r:embed="rId4">
            <a:alphaModFix/>
          </a:blip>
          <a:srcRect b="10743" l="12077" r="11680" t="12192"/>
          <a:stretch/>
        </p:blipFill>
        <p:spPr>
          <a:xfrm>
            <a:off x="8376560" y="0"/>
            <a:ext cx="767440" cy="792600"/>
          </a:xfrm>
          <a:prstGeom prst="rect">
            <a:avLst/>
          </a:prstGeom>
          <a:noFill/>
          <a:ln>
            <a:noFill/>
          </a:ln>
        </p:spPr>
      </p:pic>
      <p:pic>
        <p:nvPicPr>
          <p:cNvPr descr="Ninh explains the Rules of Water Polo. A beginner's explanation of Water Polo Rules and how to play it in a swimming pool.&#10;Watch this short tutorial video guide on how to play Water Polo under Olympic and FINA rules.&#10;Learn about goals, ordinary fouls, major fouls, brutality fouls, penalty shot, swimming, kickouts, and more.&#10;&#10;COMMENT, LIKE, RATE &amp; SUBSCRIBE!!!&#10;Also discuss on Reddit!&#10;&#10;&#10;&#10;Video: Copyright IOC (I do not own any video footage).&#10;Images: Google (Various)&#10;Music: ‘Cut &amp; Run’ by Kevin MacLeod&#10;Narrated, Directed and Produced by Ninh Ly&#10;&#10;Copyright Ninh Ly 2014 - http://www.ninh.co.uk&#10;Find me on Facebook – http://www.facebook.com/ninh.ly.31 &#10;Follow me on Twitter - http://twitter.com/NinhLyUK&#10;Google plus me – https://plus.google.com/+NinhLyUK" id="76" name="Google Shape;76;p15" title="The Rules of Water Polo - EXPLAINED!">
            <a:hlinkClick r:id="rId5"/>
          </p:cNvPr>
          <p:cNvPicPr preferRelativeResize="0"/>
          <p:nvPr/>
        </p:nvPicPr>
        <p:blipFill>
          <a:blip r:embed="rId6">
            <a:alphaModFix/>
          </a:blip>
          <a:stretch>
            <a:fillRect/>
          </a:stretch>
        </p:blipFill>
        <p:spPr>
          <a:xfrm>
            <a:off x="1550525" y="1310325"/>
            <a:ext cx="6042950" cy="3399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gtEl>
                                        <p:attrNameLst>
                                          <p:attrName>style.visibility</p:attrName>
                                        </p:attrNameLst>
                                      </p:cBhvr>
                                      <p:to>
                                        <p:strVal val="visible"/>
                                      </p:to>
                                    </p:set>
                                    <p:animEffect filter="fade" transition="in">
                                      <p:cBhvr>
                                        <p:cTn dur="1000"/>
                                        <p:tgtEl>
                                          <p:spTgt spid="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idx="1" type="subTitle"/>
          </p:nvPr>
        </p:nvSpPr>
        <p:spPr>
          <a:xfrm>
            <a:off x="311700" y="2162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sz="3000">
                <a:latin typeface="Quicksand"/>
                <a:ea typeface="Quicksand"/>
                <a:cs typeface="Quicksand"/>
                <a:sym typeface="Quicksand"/>
              </a:rPr>
              <a:t>Water Polo Pool</a:t>
            </a:r>
            <a:endParaRPr b="1" sz="3000">
              <a:latin typeface="Quicksand"/>
              <a:ea typeface="Quicksand"/>
              <a:cs typeface="Quicksand"/>
              <a:sym typeface="Quicksand"/>
            </a:endParaRPr>
          </a:p>
        </p:txBody>
      </p:sp>
      <p:pic>
        <p:nvPicPr>
          <p:cNvPr id="82" name="Google Shape;82;p16"/>
          <p:cNvPicPr preferRelativeResize="0"/>
          <p:nvPr/>
        </p:nvPicPr>
        <p:blipFill>
          <a:blip r:embed="rId3">
            <a:alphaModFix/>
          </a:blip>
          <a:stretch>
            <a:fillRect/>
          </a:stretch>
        </p:blipFill>
        <p:spPr>
          <a:xfrm>
            <a:off x="8390574" y="36718"/>
            <a:ext cx="709349" cy="724848"/>
          </a:xfrm>
          <a:prstGeom prst="rect">
            <a:avLst/>
          </a:prstGeom>
          <a:noFill/>
          <a:ln>
            <a:noFill/>
          </a:ln>
        </p:spPr>
      </p:pic>
      <p:pic>
        <p:nvPicPr>
          <p:cNvPr id="83" name="Google Shape;83;p16"/>
          <p:cNvPicPr preferRelativeResize="0"/>
          <p:nvPr/>
        </p:nvPicPr>
        <p:blipFill rotWithShape="1">
          <a:blip r:embed="rId4">
            <a:alphaModFix/>
          </a:blip>
          <a:srcRect b="10743" l="12077" r="11680" t="12192"/>
          <a:stretch/>
        </p:blipFill>
        <p:spPr>
          <a:xfrm>
            <a:off x="8376560" y="0"/>
            <a:ext cx="767440" cy="792600"/>
          </a:xfrm>
          <a:prstGeom prst="rect">
            <a:avLst/>
          </a:prstGeom>
          <a:noFill/>
          <a:ln>
            <a:noFill/>
          </a:ln>
        </p:spPr>
      </p:pic>
      <p:pic>
        <p:nvPicPr>
          <p:cNvPr id="84" name="Google Shape;84;p16"/>
          <p:cNvPicPr preferRelativeResize="0"/>
          <p:nvPr/>
        </p:nvPicPr>
        <p:blipFill rotWithShape="1">
          <a:blip r:embed="rId5">
            <a:alphaModFix/>
          </a:blip>
          <a:srcRect b="0" l="0" r="0" t="7817"/>
          <a:stretch/>
        </p:blipFill>
        <p:spPr>
          <a:xfrm>
            <a:off x="1814912" y="761575"/>
            <a:ext cx="5514177" cy="4381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idx="1" type="subTitle"/>
          </p:nvPr>
        </p:nvSpPr>
        <p:spPr>
          <a:xfrm>
            <a:off x="331800" y="761575"/>
            <a:ext cx="8480400" cy="4224900"/>
          </a:xfrm>
          <a:prstGeom prst="rect">
            <a:avLst/>
          </a:prstGeom>
        </p:spPr>
        <p:txBody>
          <a:bodyPr anchorCtr="0" anchor="t" bIns="91425" lIns="91425" spcFirstLastPara="1" rIns="91425" wrap="square" tIns="91425">
            <a:noAutofit/>
          </a:bodyPr>
          <a:lstStyle/>
          <a:p>
            <a:pPr indent="-332856" lvl="0" marL="457200" rtl="0" algn="l">
              <a:lnSpc>
                <a:spcPct val="115000"/>
              </a:lnSpc>
              <a:spcBef>
                <a:spcPts val="1200"/>
              </a:spcBef>
              <a:spcAft>
                <a:spcPts val="0"/>
              </a:spcAft>
              <a:buClr>
                <a:schemeClr val="dk1"/>
              </a:buClr>
              <a:buSzPts val="1642"/>
              <a:buFont typeface="Quicksand"/>
              <a:buAutoNum type="arabicPeriod"/>
            </a:pPr>
            <a:r>
              <a:rPr b="1" lang="en-GB" sz="1200">
                <a:solidFill>
                  <a:schemeClr val="dk1"/>
                </a:solidFill>
                <a:latin typeface="Quicksand"/>
                <a:ea typeface="Quicksand"/>
                <a:cs typeface="Quicksand"/>
                <a:sym typeface="Quicksand"/>
              </a:rPr>
              <a:t>Swimming Proficiency</a:t>
            </a:r>
            <a:r>
              <a:rPr lang="en-GB" sz="1200">
                <a:solidFill>
                  <a:schemeClr val="dk1"/>
                </a:solidFill>
                <a:latin typeface="Quicksand"/>
                <a:ea typeface="Quicksand"/>
                <a:cs typeface="Quicksand"/>
                <a:sym typeface="Quicksand"/>
              </a:rPr>
              <a:t>: Strong swimming skills are crucial for endurance, speed, and maneuverability in the water.</a:t>
            </a:r>
            <a:br>
              <a:rPr lang="en-GB" sz="1200">
                <a:solidFill>
                  <a:schemeClr val="dk1"/>
                </a:solidFill>
                <a:latin typeface="Quicksand"/>
                <a:ea typeface="Quicksand"/>
                <a:cs typeface="Quicksand"/>
                <a:sym typeface="Quicksand"/>
              </a:rPr>
            </a:br>
            <a:endParaRPr sz="800">
              <a:solidFill>
                <a:schemeClr val="dk1"/>
              </a:solidFill>
              <a:latin typeface="Quicksand"/>
              <a:ea typeface="Quicksand"/>
              <a:cs typeface="Quicksand"/>
              <a:sym typeface="Quicksand"/>
            </a:endParaRPr>
          </a:p>
          <a:p>
            <a:pPr indent="-332856" lvl="0" marL="457200" rtl="0" algn="l">
              <a:lnSpc>
                <a:spcPct val="115000"/>
              </a:lnSpc>
              <a:spcBef>
                <a:spcPts val="0"/>
              </a:spcBef>
              <a:spcAft>
                <a:spcPts val="0"/>
              </a:spcAft>
              <a:buClr>
                <a:schemeClr val="dk1"/>
              </a:buClr>
              <a:buSzPts val="1642"/>
              <a:buFont typeface="Quicksand"/>
              <a:buAutoNum type="arabicPeriod"/>
            </a:pPr>
            <a:r>
              <a:rPr b="1" lang="en-GB" sz="1200">
                <a:solidFill>
                  <a:schemeClr val="dk1"/>
                </a:solidFill>
                <a:latin typeface="Quicksand"/>
                <a:ea typeface="Quicksand"/>
                <a:cs typeface="Quicksand"/>
                <a:sym typeface="Quicksand"/>
              </a:rPr>
              <a:t>Ball Handling</a:t>
            </a:r>
            <a:r>
              <a:rPr lang="en-GB" sz="1200">
                <a:solidFill>
                  <a:schemeClr val="dk1"/>
                </a:solidFill>
                <a:latin typeface="Quicksand"/>
                <a:ea typeface="Quicksand"/>
                <a:cs typeface="Quicksand"/>
                <a:sym typeface="Quicksand"/>
              </a:rPr>
              <a:t>: Players must be adept at passing, catching, and shooting the ball while treading water.</a:t>
            </a:r>
            <a:br>
              <a:rPr lang="en-GB" sz="1200">
                <a:solidFill>
                  <a:schemeClr val="dk1"/>
                </a:solidFill>
                <a:latin typeface="Quicksand"/>
                <a:ea typeface="Quicksand"/>
                <a:cs typeface="Quicksand"/>
                <a:sym typeface="Quicksand"/>
              </a:rPr>
            </a:br>
            <a:endParaRPr sz="800">
              <a:solidFill>
                <a:schemeClr val="dk1"/>
              </a:solidFill>
              <a:latin typeface="Quicksand"/>
              <a:ea typeface="Quicksand"/>
              <a:cs typeface="Quicksand"/>
              <a:sym typeface="Quicksand"/>
            </a:endParaRPr>
          </a:p>
          <a:p>
            <a:pPr indent="-332856" lvl="0" marL="457200" rtl="0" algn="l">
              <a:lnSpc>
                <a:spcPct val="115000"/>
              </a:lnSpc>
              <a:spcBef>
                <a:spcPts val="0"/>
              </a:spcBef>
              <a:spcAft>
                <a:spcPts val="0"/>
              </a:spcAft>
              <a:buClr>
                <a:schemeClr val="dk1"/>
              </a:buClr>
              <a:buSzPts val="1642"/>
              <a:buFont typeface="Quicksand"/>
              <a:buAutoNum type="arabicPeriod"/>
            </a:pPr>
            <a:r>
              <a:rPr b="1" lang="en-GB" sz="1200">
                <a:solidFill>
                  <a:schemeClr val="dk1"/>
                </a:solidFill>
                <a:latin typeface="Quicksand"/>
                <a:ea typeface="Quicksand"/>
                <a:cs typeface="Quicksand"/>
                <a:sym typeface="Quicksand"/>
              </a:rPr>
              <a:t>Treading Water</a:t>
            </a:r>
            <a:r>
              <a:rPr lang="en-GB" sz="1200">
                <a:solidFill>
                  <a:schemeClr val="dk1"/>
                </a:solidFill>
                <a:latin typeface="Quicksand"/>
                <a:ea typeface="Quicksand"/>
                <a:cs typeface="Quicksand"/>
                <a:sym typeface="Quicksand"/>
              </a:rPr>
              <a:t>: The eggbeater kick is essential for staying afloat and maintaining a stable position while engaging in play.</a:t>
            </a:r>
            <a:br>
              <a:rPr lang="en-GB" sz="1200">
                <a:solidFill>
                  <a:schemeClr val="dk1"/>
                </a:solidFill>
                <a:latin typeface="Quicksand"/>
                <a:ea typeface="Quicksand"/>
                <a:cs typeface="Quicksand"/>
                <a:sym typeface="Quicksand"/>
              </a:rPr>
            </a:br>
            <a:endParaRPr sz="800">
              <a:solidFill>
                <a:schemeClr val="dk1"/>
              </a:solidFill>
              <a:latin typeface="Quicksand"/>
              <a:ea typeface="Quicksand"/>
              <a:cs typeface="Quicksand"/>
              <a:sym typeface="Quicksand"/>
            </a:endParaRPr>
          </a:p>
          <a:p>
            <a:pPr indent="-332856" lvl="0" marL="457200" rtl="0" algn="l">
              <a:lnSpc>
                <a:spcPct val="115000"/>
              </a:lnSpc>
              <a:spcBef>
                <a:spcPts val="0"/>
              </a:spcBef>
              <a:spcAft>
                <a:spcPts val="0"/>
              </a:spcAft>
              <a:buClr>
                <a:schemeClr val="dk1"/>
              </a:buClr>
              <a:buSzPts val="1642"/>
              <a:buFont typeface="Quicksand"/>
              <a:buAutoNum type="arabicPeriod"/>
            </a:pPr>
            <a:r>
              <a:rPr b="1" lang="en-GB" sz="1200">
                <a:solidFill>
                  <a:schemeClr val="dk1"/>
                </a:solidFill>
                <a:latin typeface="Quicksand"/>
                <a:ea typeface="Quicksand"/>
                <a:cs typeface="Quicksand"/>
                <a:sym typeface="Quicksand"/>
              </a:rPr>
              <a:t>Defensive Skills</a:t>
            </a:r>
            <a:r>
              <a:rPr lang="en-GB" sz="1200">
                <a:solidFill>
                  <a:schemeClr val="dk1"/>
                </a:solidFill>
                <a:latin typeface="Quicksand"/>
                <a:ea typeface="Quicksand"/>
                <a:cs typeface="Quicksand"/>
                <a:sym typeface="Quicksand"/>
              </a:rPr>
              <a:t>: Understanding how to mark opponents, intercept passes, and block shots is vital for effective defense.</a:t>
            </a:r>
            <a:br>
              <a:rPr lang="en-GB" sz="1200">
                <a:solidFill>
                  <a:schemeClr val="dk1"/>
                </a:solidFill>
                <a:latin typeface="Quicksand"/>
                <a:ea typeface="Quicksand"/>
                <a:cs typeface="Quicksand"/>
                <a:sym typeface="Quicksand"/>
              </a:rPr>
            </a:br>
            <a:endParaRPr sz="800">
              <a:solidFill>
                <a:schemeClr val="dk1"/>
              </a:solidFill>
              <a:latin typeface="Quicksand"/>
              <a:ea typeface="Quicksand"/>
              <a:cs typeface="Quicksand"/>
              <a:sym typeface="Quicksand"/>
            </a:endParaRPr>
          </a:p>
          <a:p>
            <a:pPr indent="-332856" lvl="0" marL="457200" rtl="0" algn="l">
              <a:lnSpc>
                <a:spcPct val="115000"/>
              </a:lnSpc>
              <a:spcBef>
                <a:spcPts val="0"/>
              </a:spcBef>
              <a:spcAft>
                <a:spcPts val="0"/>
              </a:spcAft>
              <a:buClr>
                <a:schemeClr val="dk1"/>
              </a:buClr>
              <a:buSzPts val="1642"/>
              <a:buFont typeface="Quicksand"/>
              <a:buAutoNum type="arabicPeriod"/>
            </a:pPr>
            <a:r>
              <a:rPr b="1" lang="en-GB" sz="1200">
                <a:solidFill>
                  <a:schemeClr val="dk1"/>
                </a:solidFill>
                <a:latin typeface="Quicksand"/>
                <a:ea typeface="Quicksand"/>
                <a:cs typeface="Quicksand"/>
                <a:sym typeface="Quicksand"/>
              </a:rPr>
              <a:t>Shooting Technique</a:t>
            </a:r>
            <a:r>
              <a:rPr lang="en-GB" sz="1200">
                <a:solidFill>
                  <a:schemeClr val="dk1"/>
                </a:solidFill>
                <a:latin typeface="Quicksand"/>
                <a:ea typeface="Quicksand"/>
                <a:cs typeface="Quicksand"/>
                <a:sym typeface="Quicksand"/>
              </a:rPr>
              <a:t>: Developing accurate and powerful shooting skills from various positions enhances scoring opportunities.</a:t>
            </a:r>
            <a:br>
              <a:rPr lang="en-GB" sz="1200">
                <a:solidFill>
                  <a:schemeClr val="dk1"/>
                </a:solidFill>
                <a:latin typeface="Quicksand"/>
                <a:ea typeface="Quicksand"/>
                <a:cs typeface="Quicksand"/>
                <a:sym typeface="Quicksand"/>
              </a:rPr>
            </a:br>
            <a:endParaRPr sz="800">
              <a:solidFill>
                <a:schemeClr val="dk1"/>
              </a:solidFill>
              <a:latin typeface="Quicksand"/>
              <a:ea typeface="Quicksand"/>
              <a:cs typeface="Quicksand"/>
              <a:sym typeface="Quicksand"/>
            </a:endParaRPr>
          </a:p>
          <a:p>
            <a:pPr indent="-332856" lvl="0" marL="457200" rtl="0" algn="l">
              <a:lnSpc>
                <a:spcPct val="115000"/>
              </a:lnSpc>
              <a:spcBef>
                <a:spcPts val="0"/>
              </a:spcBef>
              <a:spcAft>
                <a:spcPts val="0"/>
              </a:spcAft>
              <a:buClr>
                <a:schemeClr val="dk1"/>
              </a:buClr>
              <a:buSzPts val="1642"/>
              <a:buFont typeface="Quicksand"/>
              <a:buAutoNum type="arabicPeriod"/>
            </a:pPr>
            <a:r>
              <a:rPr b="1" lang="en-GB" sz="1200">
                <a:solidFill>
                  <a:schemeClr val="dk1"/>
                </a:solidFill>
                <a:latin typeface="Quicksand"/>
                <a:ea typeface="Quicksand"/>
                <a:cs typeface="Quicksand"/>
                <a:sym typeface="Quicksand"/>
              </a:rPr>
              <a:t>Team Communication</a:t>
            </a:r>
            <a:r>
              <a:rPr lang="en-GB" sz="1200">
                <a:solidFill>
                  <a:schemeClr val="dk1"/>
                </a:solidFill>
                <a:latin typeface="Quicksand"/>
                <a:ea typeface="Quicksand"/>
                <a:cs typeface="Quicksand"/>
                <a:sym typeface="Quicksand"/>
              </a:rPr>
              <a:t>: Clear communication with teammates is essential for coordinating plays and strategies during the game.</a:t>
            </a:r>
            <a:br>
              <a:rPr lang="en-GB" sz="1200">
                <a:solidFill>
                  <a:schemeClr val="dk1"/>
                </a:solidFill>
                <a:latin typeface="Quicksand"/>
                <a:ea typeface="Quicksand"/>
                <a:cs typeface="Quicksand"/>
                <a:sym typeface="Quicksand"/>
              </a:rPr>
            </a:br>
            <a:endParaRPr sz="800">
              <a:solidFill>
                <a:schemeClr val="dk1"/>
              </a:solidFill>
              <a:latin typeface="Quicksand"/>
              <a:ea typeface="Quicksand"/>
              <a:cs typeface="Quicksand"/>
              <a:sym typeface="Quicksand"/>
            </a:endParaRPr>
          </a:p>
          <a:p>
            <a:pPr indent="-332856" lvl="0" marL="457200" rtl="0" algn="l">
              <a:lnSpc>
                <a:spcPct val="115000"/>
              </a:lnSpc>
              <a:spcBef>
                <a:spcPts val="0"/>
              </a:spcBef>
              <a:spcAft>
                <a:spcPts val="0"/>
              </a:spcAft>
              <a:buClr>
                <a:schemeClr val="dk1"/>
              </a:buClr>
              <a:buSzPts val="1642"/>
              <a:buFont typeface="Quicksand"/>
              <a:buAutoNum type="arabicPeriod"/>
            </a:pPr>
            <a:r>
              <a:rPr b="1" lang="en-GB" sz="1200">
                <a:solidFill>
                  <a:schemeClr val="dk1"/>
                </a:solidFill>
                <a:latin typeface="Quicksand"/>
                <a:ea typeface="Quicksand"/>
                <a:cs typeface="Quicksand"/>
                <a:sym typeface="Quicksand"/>
              </a:rPr>
              <a:t>Game Awareness</a:t>
            </a:r>
            <a:r>
              <a:rPr lang="en-GB" sz="1200">
                <a:solidFill>
                  <a:schemeClr val="dk1"/>
                </a:solidFill>
                <a:latin typeface="Quicksand"/>
                <a:ea typeface="Quicksand"/>
                <a:cs typeface="Quicksand"/>
                <a:sym typeface="Quicksand"/>
              </a:rPr>
              <a:t>: Understanding the rules, positioning, and dynamics of the game helps players make informed decisions on the field.</a:t>
            </a:r>
            <a:endParaRPr sz="1642">
              <a:solidFill>
                <a:schemeClr val="dk1"/>
              </a:solidFill>
              <a:latin typeface="Quicksand"/>
              <a:ea typeface="Quicksand"/>
              <a:cs typeface="Quicksand"/>
              <a:sym typeface="Quicksand"/>
            </a:endParaRPr>
          </a:p>
        </p:txBody>
      </p:sp>
      <p:sp>
        <p:nvSpPr>
          <p:cNvPr id="90" name="Google Shape;90;p17"/>
          <p:cNvSpPr txBox="1"/>
          <p:nvPr/>
        </p:nvSpPr>
        <p:spPr>
          <a:xfrm>
            <a:off x="434075" y="347225"/>
            <a:ext cx="3000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600">
                <a:solidFill>
                  <a:schemeClr val="dk1"/>
                </a:solidFill>
                <a:latin typeface="Quicksand"/>
                <a:ea typeface="Quicksand"/>
                <a:cs typeface="Quicksand"/>
                <a:sym typeface="Quicksand"/>
              </a:rPr>
              <a:t>Water polo essential skills</a:t>
            </a:r>
            <a:r>
              <a:rPr b="1" lang="en-GB" sz="1600">
                <a:solidFill>
                  <a:schemeClr val="dk1"/>
                </a:solidFill>
                <a:latin typeface="Quicksand"/>
                <a:ea typeface="Quicksand"/>
                <a:cs typeface="Quicksand"/>
                <a:sym typeface="Quicksand"/>
              </a:rPr>
              <a:t>:</a:t>
            </a:r>
            <a:endParaRPr sz="1800"/>
          </a:p>
        </p:txBody>
      </p:sp>
      <p:pic>
        <p:nvPicPr>
          <p:cNvPr id="91" name="Google Shape;91;p17"/>
          <p:cNvPicPr preferRelativeResize="0"/>
          <p:nvPr/>
        </p:nvPicPr>
        <p:blipFill>
          <a:blip r:embed="rId3">
            <a:alphaModFix/>
          </a:blip>
          <a:stretch>
            <a:fillRect/>
          </a:stretch>
        </p:blipFill>
        <p:spPr>
          <a:xfrm>
            <a:off x="8390574" y="36718"/>
            <a:ext cx="709349" cy="724848"/>
          </a:xfrm>
          <a:prstGeom prst="rect">
            <a:avLst/>
          </a:prstGeom>
          <a:noFill/>
          <a:ln>
            <a:noFill/>
          </a:ln>
        </p:spPr>
      </p:pic>
      <p:pic>
        <p:nvPicPr>
          <p:cNvPr id="92" name="Google Shape;92;p17"/>
          <p:cNvPicPr preferRelativeResize="0"/>
          <p:nvPr/>
        </p:nvPicPr>
        <p:blipFill rotWithShape="1">
          <a:blip r:embed="rId4">
            <a:alphaModFix/>
          </a:blip>
          <a:srcRect b="10743" l="12077" r="11680" t="12192"/>
          <a:stretch/>
        </p:blipFill>
        <p:spPr>
          <a:xfrm>
            <a:off x="8376560" y="0"/>
            <a:ext cx="767440" cy="792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nvSpPr>
        <p:spPr>
          <a:xfrm>
            <a:off x="434075" y="415925"/>
            <a:ext cx="38598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800">
                <a:solidFill>
                  <a:schemeClr val="dk1"/>
                </a:solidFill>
                <a:latin typeface="Quicksand"/>
                <a:ea typeface="Quicksand"/>
                <a:cs typeface="Quicksand"/>
                <a:sym typeface="Quicksand"/>
              </a:rPr>
              <a:t>Water polo essential skills:</a:t>
            </a:r>
            <a:endParaRPr sz="2000"/>
          </a:p>
        </p:txBody>
      </p:sp>
      <p:pic>
        <p:nvPicPr>
          <p:cNvPr id="98" name="Google Shape;98;p18"/>
          <p:cNvPicPr preferRelativeResize="0"/>
          <p:nvPr/>
        </p:nvPicPr>
        <p:blipFill>
          <a:blip r:embed="rId3">
            <a:alphaModFix/>
          </a:blip>
          <a:stretch>
            <a:fillRect/>
          </a:stretch>
        </p:blipFill>
        <p:spPr>
          <a:xfrm>
            <a:off x="8390574" y="36718"/>
            <a:ext cx="709349" cy="724848"/>
          </a:xfrm>
          <a:prstGeom prst="rect">
            <a:avLst/>
          </a:prstGeom>
          <a:noFill/>
          <a:ln>
            <a:noFill/>
          </a:ln>
        </p:spPr>
      </p:pic>
      <p:pic>
        <p:nvPicPr>
          <p:cNvPr id="99" name="Google Shape;99;p18"/>
          <p:cNvPicPr preferRelativeResize="0"/>
          <p:nvPr/>
        </p:nvPicPr>
        <p:blipFill rotWithShape="1">
          <a:blip r:embed="rId4">
            <a:alphaModFix/>
          </a:blip>
          <a:srcRect b="10743" l="12077" r="11680" t="12192"/>
          <a:stretch/>
        </p:blipFill>
        <p:spPr>
          <a:xfrm>
            <a:off x="8376560" y="0"/>
            <a:ext cx="767440" cy="792600"/>
          </a:xfrm>
          <a:prstGeom prst="rect">
            <a:avLst/>
          </a:prstGeom>
          <a:noFill/>
          <a:ln>
            <a:noFill/>
          </a:ln>
        </p:spPr>
      </p:pic>
      <p:sp>
        <p:nvSpPr>
          <p:cNvPr id="100" name="Google Shape;100;p18"/>
          <p:cNvSpPr txBox="1"/>
          <p:nvPr/>
        </p:nvSpPr>
        <p:spPr>
          <a:xfrm>
            <a:off x="533600" y="1198325"/>
            <a:ext cx="4791000" cy="128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GB" sz="1600">
                <a:solidFill>
                  <a:schemeClr val="dk1"/>
                </a:solidFill>
                <a:latin typeface="Quicksand"/>
                <a:ea typeface="Quicksand"/>
                <a:cs typeface="Quicksand"/>
                <a:sym typeface="Quicksand"/>
              </a:rPr>
              <a:t>Ball Handling</a:t>
            </a:r>
            <a:r>
              <a:rPr lang="en-GB" sz="1600">
                <a:solidFill>
                  <a:schemeClr val="dk1"/>
                </a:solidFill>
                <a:latin typeface="Quicksand"/>
                <a:ea typeface="Quicksand"/>
                <a:cs typeface="Quicksand"/>
                <a:sym typeface="Quicksand"/>
              </a:rPr>
              <a:t>: Players must be adept at passing, catching, and shooting the ball while treading water. Good ball control is crucial for effective gameplay.</a:t>
            </a:r>
            <a:endParaRPr sz="1700">
              <a:solidFill>
                <a:schemeClr val="dk1"/>
              </a:solidFill>
              <a:latin typeface="Quicksand"/>
              <a:ea typeface="Quicksand"/>
              <a:cs typeface="Quicksand"/>
              <a:sym typeface="Quicksand"/>
            </a:endParaRPr>
          </a:p>
        </p:txBody>
      </p:sp>
      <p:pic>
        <p:nvPicPr>
          <p:cNvPr descr="Water polo ball handling techniques.  Courtesy of USA Water Polo." id="101" name="Google Shape;101;p18" title="Water Polo: ODP ball handling drills">
            <a:hlinkClick r:id="rId5"/>
          </p:cNvPr>
          <p:cNvPicPr preferRelativeResize="0"/>
          <p:nvPr/>
        </p:nvPicPr>
        <p:blipFill>
          <a:blip r:embed="rId6">
            <a:alphaModFix/>
          </a:blip>
          <a:stretch>
            <a:fillRect/>
          </a:stretch>
        </p:blipFill>
        <p:spPr>
          <a:xfrm>
            <a:off x="5535825" y="3070275"/>
            <a:ext cx="3048000" cy="1714500"/>
          </a:xfrm>
          <a:prstGeom prst="rect">
            <a:avLst/>
          </a:prstGeom>
          <a:noFill/>
          <a:ln>
            <a:noFill/>
          </a:ln>
        </p:spPr>
      </p:pic>
      <p:pic>
        <p:nvPicPr>
          <p:cNvPr descr="Water Polo | BIWPA Technical Corner&#10;&#10;1. Basic Individual Technique&#10;Preview&#10;Featuring: Marina Cordobés and Oscar Carrillo (CNS); Bea Ortiz (CNT); Anni Espar (CNM); Ethan, Liam, Ryder, David, Mark and Pablo (BIWPA Academy)&#10;&#10;Welcome to the BIWPA Technical Corner. Water polo drills and training techniques with tips and comments by our coaches. Take a look! https://www.biwpa.com/technical-corner" id="102" name="Google Shape;102;p18" title="1. Basic Individual Technique (Preview) | Water Polo Technical Corner">
            <a:hlinkClick r:id="rId7"/>
          </p:cNvPr>
          <p:cNvPicPr preferRelativeResize="0"/>
          <p:nvPr/>
        </p:nvPicPr>
        <p:blipFill>
          <a:blip r:embed="rId8">
            <a:alphaModFix/>
          </a:blip>
          <a:stretch>
            <a:fillRect/>
          </a:stretch>
        </p:blipFill>
        <p:spPr>
          <a:xfrm>
            <a:off x="5535825" y="992175"/>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1000"/>
                                        <p:tgtEl>
                                          <p:spTgt spid="1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nvSpPr>
        <p:spPr>
          <a:xfrm>
            <a:off x="434075" y="415925"/>
            <a:ext cx="38598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800">
                <a:solidFill>
                  <a:schemeClr val="dk1"/>
                </a:solidFill>
                <a:latin typeface="Quicksand"/>
                <a:ea typeface="Quicksand"/>
                <a:cs typeface="Quicksand"/>
                <a:sym typeface="Quicksand"/>
              </a:rPr>
              <a:t>Water polo essential skills:</a:t>
            </a:r>
            <a:endParaRPr sz="2000"/>
          </a:p>
        </p:txBody>
      </p:sp>
      <p:pic>
        <p:nvPicPr>
          <p:cNvPr id="108" name="Google Shape;108;p19"/>
          <p:cNvPicPr preferRelativeResize="0"/>
          <p:nvPr/>
        </p:nvPicPr>
        <p:blipFill>
          <a:blip r:embed="rId3">
            <a:alphaModFix/>
          </a:blip>
          <a:stretch>
            <a:fillRect/>
          </a:stretch>
        </p:blipFill>
        <p:spPr>
          <a:xfrm>
            <a:off x="8390574" y="36718"/>
            <a:ext cx="709349" cy="724848"/>
          </a:xfrm>
          <a:prstGeom prst="rect">
            <a:avLst/>
          </a:prstGeom>
          <a:noFill/>
          <a:ln>
            <a:noFill/>
          </a:ln>
        </p:spPr>
      </p:pic>
      <p:pic>
        <p:nvPicPr>
          <p:cNvPr id="109" name="Google Shape;109;p19"/>
          <p:cNvPicPr preferRelativeResize="0"/>
          <p:nvPr/>
        </p:nvPicPr>
        <p:blipFill rotWithShape="1">
          <a:blip r:embed="rId4">
            <a:alphaModFix/>
          </a:blip>
          <a:srcRect b="10743" l="12077" r="11680" t="12192"/>
          <a:stretch/>
        </p:blipFill>
        <p:spPr>
          <a:xfrm>
            <a:off x="8376560" y="0"/>
            <a:ext cx="767440" cy="792600"/>
          </a:xfrm>
          <a:prstGeom prst="rect">
            <a:avLst/>
          </a:prstGeom>
          <a:noFill/>
          <a:ln>
            <a:noFill/>
          </a:ln>
        </p:spPr>
      </p:pic>
      <p:pic>
        <p:nvPicPr>
          <p:cNvPr descr="Eggbeater demo. Courtesy of USA Water Polo." id="110" name="Google Shape;110;p19" title="Water Polo: ODP Eggbeater">
            <a:hlinkClick r:id="rId5"/>
          </p:cNvPr>
          <p:cNvPicPr preferRelativeResize="0"/>
          <p:nvPr/>
        </p:nvPicPr>
        <p:blipFill>
          <a:blip r:embed="rId6">
            <a:alphaModFix/>
          </a:blip>
          <a:stretch>
            <a:fillRect/>
          </a:stretch>
        </p:blipFill>
        <p:spPr>
          <a:xfrm>
            <a:off x="5535825" y="992175"/>
            <a:ext cx="3048000" cy="1714500"/>
          </a:xfrm>
          <a:prstGeom prst="rect">
            <a:avLst/>
          </a:prstGeom>
          <a:noFill/>
          <a:ln>
            <a:noFill/>
          </a:ln>
        </p:spPr>
      </p:pic>
      <p:sp>
        <p:nvSpPr>
          <p:cNvPr id="111" name="Google Shape;111;p19"/>
          <p:cNvSpPr txBox="1"/>
          <p:nvPr/>
        </p:nvSpPr>
        <p:spPr>
          <a:xfrm>
            <a:off x="533600" y="1198325"/>
            <a:ext cx="4791000" cy="317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GB" sz="1600">
                <a:solidFill>
                  <a:schemeClr val="dk1"/>
                </a:solidFill>
                <a:latin typeface="Quicksand"/>
                <a:ea typeface="Quicksand"/>
                <a:cs typeface="Quicksand"/>
                <a:sym typeface="Quicksand"/>
              </a:rPr>
              <a:t>Treading Water</a:t>
            </a:r>
            <a:r>
              <a:rPr lang="en-GB" sz="1600">
                <a:solidFill>
                  <a:schemeClr val="dk1"/>
                </a:solidFill>
                <a:latin typeface="Quicksand"/>
                <a:ea typeface="Quicksand"/>
                <a:cs typeface="Quicksand"/>
                <a:sym typeface="Quicksand"/>
              </a:rPr>
              <a:t>: The eggbeater kick is essential for maintaining a stable position while keeping the head above water. This allows players to be mobile and ready for action.</a:t>
            </a:r>
            <a:endParaRPr sz="1600">
              <a:solidFill>
                <a:schemeClr val="dk1"/>
              </a:solidFill>
              <a:latin typeface="Quicksand"/>
              <a:ea typeface="Quicksand"/>
              <a:cs typeface="Quicksand"/>
              <a:sym typeface="Quicksand"/>
            </a:endParaRPr>
          </a:p>
          <a:p>
            <a:pPr indent="0" lvl="0" marL="0" rtl="0" algn="l">
              <a:lnSpc>
                <a:spcPct val="115000"/>
              </a:lnSpc>
              <a:spcBef>
                <a:spcPts val="1200"/>
              </a:spcBef>
              <a:spcAft>
                <a:spcPts val="0"/>
              </a:spcAft>
              <a:buNone/>
            </a:pPr>
            <a:r>
              <a:t/>
            </a:r>
            <a:endParaRPr sz="1600">
              <a:solidFill>
                <a:schemeClr val="dk1"/>
              </a:solidFill>
              <a:latin typeface="Quicksand"/>
              <a:ea typeface="Quicksand"/>
              <a:cs typeface="Quicksand"/>
              <a:sym typeface="Quicksand"/>
            </a:endParaRPr>
          </a:p>
          <a:p>
            <a:pPr indent="0" lvl="0" marL="0" rtl="0" algn="l">
              <a:lnSpc>
                <a:spcPct val="115000"/>
              </a:lnSpc>
              <a:spcBef>
                <a:spcPts val="1200"/>
              </a:spcBef>
              <a:spcAft>
                <a:spcPts val="0"/>
              </a:spcAft>
              <a:buNone/>
            </a:pPr>
            <a:r>
              <a:rPr b="1" lang="en-GB" sz="1600">
                <a:solidFill>
                  <a:schemeClr val="dk1"/>
                </a:solidFill>
                <a:latin typeface="Quicksand"/>
                <a:ea typeface="Quicksand"/>
                <a:cs typeface="Quicksand"/>
                <a:sym typeface="Quicksand"/>
              </a:rPr>
              <a:t>Offensive techniques </a:t>
            </a:r>
            <a:r>
              <a:rPr lang="en-GB" sz="1600">
                <a:solidFill>
                  <a:schemeClr val="dk1"/>
                </a:solidFill>
                <a:latin typeface="Quicksand"/>
                <a:ea typeface="Quicksand"/>
                <a:cs typeface="Quicksand"/>
                <a:sym typeface="Quicksand"/>
              </a:rPr>
              <a:t>includes mastering shots, driving for space, using pick plays, and executing fast breaks for quick scoring opportunities.</a:t>
            </a:r>
            <a:endParaRPr sz="1600">
              <a:solidFill>
                <a:schemeClr val="dk1"/>
              </a:solidFill>
              <a:latin typeface="Quicksand"/>
              <a:ea typeface="Quicksand"/>
              <a:cs typeface="Quicksand"/>
              <a:sym typeface="Quicksand"/>
            </a:endParaRPr>
          </a:p>
          <a:p>
            <a:pPr indent="0" lvl="0" marL="0" rtl="0" algn="l">
              <a:lnSpc>
                <a:spcPct val="115000"/>
              </a:lnSpc>
              <a:spcBef>
                <a:spcPts val="1200"/>
              </a:spcBef>
              <a:spcAft>
                <a:spcPts val="1200"/>
              </a:spcAft>
              <a:buNone/>
            </a:pPr>
            <a:r>
              <a:t/>
            </a:r>
            <a:endParaRPr sz="1700">
              <a:solidFill>
                <a:schemeClr val="dk1"/>
              </a:solidFill>
              <a:latin typeface="Quicksand"/>
              <a:ea typeface="Quicksand"/>
              <a:cs typeface="Quicksand"/>
              <a:sym typeface="Quicksand"/>
            </a:endParaRPr>
          </a:p>
        </p:txBody>
      </p:sp>
      <p:pic>
        <p:nvPicPr>
          <p:cNvPr descr="Water Polo | BIWPA Technical Corner&#10;&#10;3. Offense&#10;Preview&#10;Featuring: Oscar Carrillo, Marina Cordobés, Anni Espar, Ethan, Kelly, Marta, Mark, David, Pablo, Liam, Wyatt.&#10;&#10;Welcome to the BIWPA Technical Corner. Water polo drills and training techniques with tips and comments by our coaches. Take a look! https://www.biwpa.com/technical-corner" id="112" name="Google Shape;112;p19" title="3. Offense (Preview) | Water Polo Technical Corner">
            <a:hlinkClick r:id="rId7"/>
          </p:cNvPr>
          <p:cNvPicPr preferRelativeResize="0"/>
          <p:nvPr/>
        </p:nvPicPr>
        <p:blipFill>
          <a:blip r:embed="rId8">
            <a:alphaModFix/>
          </a:blip>
          <a:stretch>
            <a:fillRect/>
          </a:stretch>
        </p:blipFill>
        <p:spPr>
          <a:xfrm>
            <a:off x="5535825" y="3012075"/>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1000"/>
                                        <p:tgtEl>
                                          <p:spTgt spid="1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1000"/>
                                        <p:tgtEl>
                                          <p:spTgt spid="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nvSpPr>
        <p:spPr>
          <a:xfrm>
            <a:off x="434075" y="435575"/>
            <a:ext cx="38205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800">
                <a:solidFill>
                  <a:schemeClr val="dk1"/>
                </a:solidFill>
                <a:latin typeface="Quicksand"/>
                <a:ea typeface="Quicksand"/>
                <a:cs typeface="Quicksand"/>
                <a:sym typeface="Quicksand"/>
              </a:rPr>
              <a:t>Water polo essential skills:</a:t>
            </a:r>
            <a:endParaRPr sz="2000"/>
          </a:p>
        </p:txBody>
      </p:sp>
      <p:pic>
        <p:nvPicPr>
          <p:cNvPr id="118" name="Google Shape;118;p20"/>
          <p:cNvPicPr preferRelativeResize="0"/>
          <p:nvPr/>
        </p:nvPicPr>
        <p:blipFill>
          <a:blip r:embed="rId3">
            <a:alphaModFix/>
          </a:blip>
          <a:stretch>
            <a:fillRect/>
          </a:stretch>
        </p:blipFill>
        <p:spPr>
          <a:xfrm>
            <a:off x="8390574" y="36718"/>
            <a:ext cx="709349" cy="724848"/>
          </a:xfrm>
          <a:prstGeom prst="rect">
            <a:avLst/>
          </a:prstGeom>
          <a:noFill/>
          <a:ln>
            <a:noFill/>
          </a:ln>
        </p:spPr>
      </p:pic>
      <p:pic>
        <p:nvPicPr>
          <p:cNvPr id="119" name="Google Shape;119;p20"/>
          <p:cNvPicPr preferRelativeResize="0"/>
          <p:nvPr/>
        </p:nvPicPr>
        <p:blipFill rotWithShape="1">
          <a:blip r:embed="rId4">
            <a:alphaModFix/>
          </a:blip>
          <a:srcRect b="10743" l="12077" r="11680" t="12192"/>
          <a:stretch/>
        </p:blipFill>
        <p:spPr>
          <a:xfrm>
            <a:off x="8376560" y="0"/>
            <a:ext cx="767440" cy="792600"/>
          </a:xfrm>
          <a:prstGeom prst="rect">
            <a:avLst/>
          </a:prstGeom>
          <a:noFill/>
          <a:ln>
            <a:noFill/>
          </a:ln>
        </p:spPr>
      </p:pic>
      <p:sp>
        <p:nvSpPr>
          <p:cNvPr id="120" name="Google Shape;120;p20"/>
          <p:cNvSpPr txBox="1"/>
          <p:nvPr/>
        </p:nvSpPr>
        <p:spPr>
          <a:xfrm>
            <a:off x="533600" y="1198325"/>
            <a:ext cx="4791000" cy="313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GB" sz="1600">
                <a:solidFill>
                  <a:schemeClr val="dk1"/>
                </a:solidFill>
                <a:latin typeface="Quicksand"/>
                <a:ea typeface="Quicksand"/>
                <a:cs typeface="Quicksand"/>
                <a:sym typeface="Quicksand"/>
              </a:rPr>
              <a:t>Shooting Techniques</a:t>
            </a:r>
            <a:r>
              <a:rPr lang="en-GB" sz="1600">
                <a:solidFill>
                  <a:schemeClr val="dk1"/>
                </a:solidFill>
                <a:latin typeface="Quicksand"/>
                <a:ea typeface="Quicksand"/>
                <a:cs typeface="Quicksand"/>
                <a:sym typeface="Quicksand"/>
              </a:rPr>
              <a:t>: Players need to master various shooting techniques, such as the outside shot and the backhand shot, to score effectively. Accuracy and power are key components.</a:t>
            </a:r>
            <a:br>
              <a:rPr lang="en-GB" sz="1600">
                <a:solidFill>
                  <a:schemeClr val="dk1"/>
                </a:solidFill>
                <a:latin typeface="Quicksand"/>
                <a:ea typeface="Quicksand"/>
                <a:cs typeface="Quicksand"/>
                <a:sym typeface="Quicksand"/>
              </a:rPr>
            </a:br>
            <a:endParaRPr sz="1600">
              <a:solidFill>
                <a:schemeClr val="dk1"/>
              </a:solidFill>
              <a:latin typeface="Quicksand"/>
              <a:ea typeface="Quicksand"/>
              <a:cs typeface="Quicksand"/>
              <a:sym typeface="Quicksand"/>
            </a:endParaRPr>
          </a:p>
          <a:p>
            <a:pPr indent="0" lvl="0" marL="0" rtl="0" algn="l">
              <a:lnSpc>
                <a:spcPct val="115000"/>
              </a:lnSpc>
              <a:spcBef>
                <a:spcPts val="1200"/>
              </a:spcBef>
              <a:spcAft>
                <a:spcPts val="1200"/>
              </a:spcAft>
              <a:buNone/>
            </a:pPr>
            <a:r>
              <a:rPr b="1" lang="en-GB" sz="1600">
                <a:solidFill>
                  <a:schemeClr val="dk1"/>
                </a:solidFill>
                <a:latin typeface="Quicksand"/>
                <a:ea typeface="Quicksand"/>
                <a:cs typeface="Quicksand"/>
                <a:sym typeface="Quicksand"/>
              </a:rPr>
              <a:t>Defensive Techniques</a:t>
            </a:r>
            <a:r>
              <a:rPr lang="en-GB" sz="1600">
                <a:solidFill>
                  <a:schemeClr val="dk1"/>
                </a:solidFill>
                <a:latin typeface="Quicksand"/>
                <a:ea typeface="Quicksand"/>
                <a:cs typeface="Quicksand"/>
                <a:sym typeface="Quicksand"/>
              </a:rPr>
              <a:t>: Understanding how to mark opponents, intercept passes, and block shots is crucial for defense. Players should also learn how to position themselves effectively in the water.</a:t>
            </a:r>
            <a:endParaRPr sz="1600">
              <a:solidFill>
                <a:schemeClr val="dk1"/>
              </a:solidFill>
              <a:latin typeface="Quicksand"/>
              <a:ea typeface="Quicksand"/>
              <a:cs typeface="Quicksand"/>
              <a:sym typeface="Quicksand"/>
            </a:endParaRPr>
          </a:p>
        </p:txBody>
      </p:sp>
      <p:pic>
        <p:nvPicPr>
          <p:cNvPr id="121" name="Google Shape;121;p20"/>
          <p:cNvPicPr preferRelativeResize="0"/>
          <p:nvPr/>
        </p:nvPicPr>
        <p:blipFill>
          <a:blip r:embed="rId5">
            <a:alphaModFix/>
          </a:blip>
          <a:stretch>
            <a:fillRect/>
          </a:stretch>
        </p:blipFill>
        <p:spPr>
          <a:xfrm>
            <a:off x="5324600" y="1266854"/>
            <a:ext cx="3820499" cy="1139545"/>
          </a:xfrm>
          <a:prstGeom prst="rect">
            <a:avLst/>
          </a:prstGeom>
          <a:noFill/>
          <a:ln>
            <a:noFill/>
          </a:ln>
        </p:spPr>
      </p:pic>
      <p:pic>
        <p:nvPicPr>
          <p:cNvPr descr="Water Polo | BIWPA Technical Corner&#10;&#10;4. Defense&#10;4.1. One-on-one | 4.2. Center Defender&#10;Preview&#10;Featuring: Bea Ortiz, Marina Cordobés, Liam, Pablo and Wyatt.&#10;&#10;Welcome to the BIWPA Technical Corner. Water polo drills and training techniques with tips and comments by our coaches. Take a look! https://www.biwpa.com/technical-corner" id="122" name="Google Shape;122;p20" title="4. Defense (4.1. One-on-one | 4.2. Center Defender) - Preview | Water Polo Technical Corner">
            <a:hlinkClick r:id="rId6"/>
          </p:cNvPr>
          <p:cNvPicPr preferRelativeResize="0"/>
          <p:nvPr/>
        </p:nvPicPr>
        <p:blipFill>
          <a:blip r:embed="rId7">
            <a:alphaModFix/>
          </a:blip>
          <a:stretch>
            <a:fillRect/>
          </a:stretch>
        </p:blipFill>
        <p:spPr>
          <a:xfrm>
            <a:off x="5456475" y="2722824"/>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1000"/>
                                        <p:tgtEl>
                                          <p:spTgt spid="1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